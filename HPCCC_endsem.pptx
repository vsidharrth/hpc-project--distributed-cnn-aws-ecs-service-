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 id="2147483648" r:id="rId5"/>
  </p:sldMasterIdLst>
  <p:sldIdLst>
    <p:sldId id="257" r:id="rId6"/>
    <p:sldId id="259" r:id="rId7"/>
    <p:sldId id="291" r:id="rId8"/>
    <p:sldId id="292" r:id="rId9"/>
    <p:sldId id="316" r:id="rId10"/>
    <p:sldId id="293" r:id="rId11"/>
    <p:sldId id="312" r:id="rId12"/>
    <p:sldId id="313" r:id="rId13"/>
    <p:sldId id="295" r:id="rId14"/>
    <p:sldId id="330" r:id="rId15"/>
    <p:sldId id="296" r:id="rId16"/>
    <p:sldId id="314" r:id="rId17"/>
    <p:sldId id="297" r:id="rId18"/>
    <p:sldId id="315" r:id="rId19"/>
    <p:sldId id="299" r:id="rId20"/>
    <p:sldId id="303"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07" r:id="rId34"/>
    <p:sldId id="304" r:id="rId35"/>
    <p:sldId id="308" r:id="rId36"/>
    <p:sldId id="329" r:id="rId37"/>
    <p:sldId id="311" r:id="rId38"/>
    <p:sldId id="29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4CC8F4-5FCC-3EE0-3569-78F9650CB403}" v="205" dt="2025-11-13T18:16:22.279"/>
    <p1510:client id="{6AED1CDB-79F0-E4F0-E229-A4E5A02962C6}" v="1089" dt="2025-11-12T18:10:14.629"/>
    <p1510:client id="{8FC9519B-943B-68FA-4E2D-D0CCE591408E}" v="3348" dt="2025-11-13T18:56:26.629"/>
    <p1510:client id="{AEFA1F16-0AD2-2069-46D7-EB2D36836F03}" v="390" dt="2025-11-13T19:43:53.648"/>
    <p1510:client id="{AF3929B7-0484-188B-978F-9C055DE28326}" v="82" dt="2025-11-14T03:16:21.158"/>
    <p1510:client id="{C3DA2C1E-A709-44E5-A18D-9E1E967FCDD8}" v="245" dt="2025-11-12T17:23:07.173"/>
    <p1510:client id="{CD62ACD4-19A5-83C5-BBAE-0B87C11CCF2B}" v="283" dt="2025-11-12T18:08:39.2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6F662-A933-AB59-2FE7-E65899CD1C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4EA702D-88D9-C330-1318-826705DA2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9E4FA4-6CA7-3791-ED61-743F57623FCA}"/>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C168B9C6-CC9D-9817-940A-A2A2CCD91A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4BE943-1438-D86B-4FE1-D0A7C782E1F7}"/>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2107435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C5DAA-D088-514B-B045-43CA1FC7E8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6B97C2-A139-351D-AA6C-C7FDD693D3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4EAD06-19CE-16DF-FCCA-1D73A7578E87}"/>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91C9317B-D076-6E65-C82F-128237E3B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EB2E42-E252-F435-4C1E-58A96198B36B}"/>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99672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64766-0208-4DFC-6A0B-764017883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3FCF2B-0589-4BAE-B319-857293E06C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DA6AC5-4DAD-69A8-1C43-87A43457C55E}"/>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0BC37BCF-0FAF-1BCE-26B2-E3FA8FF732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9C2AF7-E862-908E-23B4-27CA44CD98C5}"/>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344115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2228-A79F-7352-96CA-03932ED9BB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5DFD94-63F1-27E1-5B42-CB8290808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28131D-30CE-82DF-B87E-7C3D5E536E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04C47FD-CBC6-5F21-3053-517C41B236EE}"/>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6" name="Footer Placeholder 5">
            <a:extLst>
              <a:ext uri="{FF2B5EF4-FFF2-40B4-BE49-F238E27FC236}">
                <a16:creationId xmlns:a16="http://schemas.microsoft.com/office/drawing/2014/main" id="{46306519-8DE7-2294-E5E2-28D20D644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A841F8-DFA5-65BB-DE4C-F333B7D42FB4}"/>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17289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506C-0B34-2BE5-F358-00AD66E109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ED9CE2-804B-25F4-EA81-E19458BC02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C58792-48CF-C133-EF2A-F842D07AA7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286225-7688-4B5E-CB37-065A7C3EDB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4B239A-8CF2-344D-7007-1BEED80FB0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54492D-E380-8ECC-FC26-9E892261DC82}"/>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8" name="Footer Placeholder 7">
            <a:extLst>
              <a:ext uri="{FF2B5EF4-FFF2-40B4-BE49-F238E27FC236}">
                <a16:creationId xmlns:a16="http://schemas.microsoft.com/office/drawing/2014/main" id="{35D3E3E8-41BE-4706-E177-B53B1B8473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DE98BB-2913-30A7-CA6B-8A52EA04A6D9}"/>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3847713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AF4A7-4E45-FC08-125A-F8CE3ECEAA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B9F698-9C17-AD9E-C90D-0BFF6DE0090F}"/>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4" name="Footer Placeholder 3">
            <a:extLst>
              <a:ext uri="{FF2B5EF4-FFF2-40B4-BE49-F238E27FC236}">
                <a16:creationId xmlns:a16="http://schemas.microsoft.com/office/drawing/2014/main" id="{3B434820-3E5F-B7E2-D74E-6A61E0D7E4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AFC67A-6A3A-4188-5004-FA17F8E662DE}"/>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3585534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D15707-8BAD-7B9B-1F94-84C3C8FD43C1}"/>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3" name="Footer Placeholder 2">
            <a:extLst>
              <a:ext uri="{FF2B5EF4-FFF2-40B4-BE49-F238E27FC236}">
                <a16:creationId xmlns:a16="http://schemas.microsoft.com/office/drawing/2014/main" id="{54D37FB7-06F5-64F6-696C-073EDA14F7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48A89E-FFB2-C78F-D456-DB6C69F95799}"/>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1096891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197F-5B78-A6D3-F4EB-E6CBD51292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CE34B3-B2D8-B58A-5CB9-FC15F7C684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7E4671-F3E3-0359-5CAE-6CB2837B8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7A7D59-15AD-C570-83FE-723B4DFCCA10}"/>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6" name="Footer Placeholder 5">
            <a:extLst>
              <a:ext uri="{FF2B5EF4-FFF2-40B4-BE49-F238E27FC236}">
                <a16:creationId xmlns:a16="http://schemas.microsoft.com/office/drawing/2014/main" id="{F44FD24A-8A78-2520-9C20-D073CE890B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87BD3-95E9-B9ED-D2D6-D5464774795B}"/>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1258175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7F24-23D8-3431-59DB-9A2E1B08B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B373D8-0125-59C3-A41C-633383F97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F2D3EF-C9C7-8D17-A65F-C481DF11A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47BE45-3D59-16C5-68C4-A86D9E8EBC00}"/>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6" name="Footer Placeholder 5">
            <a:extLst>
              <a:ext uri="{FF2B5EF4-FFF2-40B4-BE49-F238E27FC236}">
                <a16:creationId xmlns:a16="http://schemas.microsoft.com/office/drawing/2014/main" id="{D550C965-2C90-F1DF-C064-2EE5750458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41ED92-284A-86C2-74A2-088655AF55D8}"/>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7203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7BB4D-FB73-F068-70D3-E9DD6F0B76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03E1B9-870B-2D7C-0555-2E81423F48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2C063B-E4F2-FA6E-7536-B4BB245F10FD}"/>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41B999EC-E70C-DD6A-F3CC-1E3CA4011C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43C95D-1604-984C-6E0A-56D9FA2F987A}"/>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48611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6769AD-9956-9B4F-8517-10CB12A389F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07909B-0685-17CF-137D-CAE39711BA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8F6B08-C276-DEFD-ED38-F8E3F6F5A783}"/>
              </a:ext>
            </a:extLst>
          </p:cNvPr>
          <p:cNvSpPr>
            <a:spLocks noGrp="1"/>
          </p:cNvSpPr>
          <p:nvPr>
            <p:ph type="dt" sz="half" idx="10"/>
          </p:nvPr>
        </p:nvSpPr>
        <p:spPr/>
        <p:txBody>
          <a:body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DE73B3F1-7740-A6B7-0A74-A32C5478A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991CA4-B3B0-4F9E-34B5-43CACC2F9F37}"/>
              </a:ext>
            </a:extLst>
          </p:cNvPr>
          <p:cNvSpPr>
            <a:spLocks noGrp="1"/>
          </p:cNvSpPr>
          <p:nvPr>
            <p:ph type="sldNum" sz="quarter" idx="12"/>
          </p:nvPr>
        </p:nvSpPr>
        <p:spPr/>
        <p:txBody>
          <a:bodyPr/>
          <a:lstStyle/>
          <a:p>
            <a:fld id="{A122193A-116E-4FFD-9F75-F257B58240C4}" type="slidenum">
              <a:rPr lang="en-IN" smtClean="0"/>
              <a:t>‹#›</a:t>
            </a:fld>
            <a:endParaRPr lang="en-IN"/>
          </a:p>
        </p:txBody>
      </p:sp>
    </p:spTree>
    <p:extLst>
      <p:ext uri="{BB962C8B-B14F-4D97-AF65-F5344CB8AC3E}">
        <p14:creationId xmlns:p14="http://schemas.microsoft.com/office/powerpoint/2010/main" val="4013842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A3123E"/>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5" name="Holder 5"/>
          <p:cNvSpPr>
            <a:spLocks noGrp="1"/>
          </p:cNvSpPr>
          <p:nvPr>
            <p:ph type="sldNum" sz="quarter" idx="7"/>
          </p:nvPr>
        </p:nvSpPr>
        <p:spPr/>
        <p:txBody>
          <a:bodyPr lIns="0" tIns="0" rIns="0" bIns="0"/>
          <a:lstStyle>
            <a:lvl1pPr>
              <a:defRPr sz="1550" b="0" i="0">
                <a:solidFill>
                  <a:schemeClr val="bg1"/>
                </a:solidFill>
                <a:latin typeface="Calibri"/>
                <a:cs typeface="Calibri"/>
              </a:defRPr>
            </a:lvl1pPr>
          </a:lstStyle>
          <a:p>
            <a:pPr marL="12700">
              <a:lnSpc>
                <a:spcPct val="100000"/>
              </a:lnSpc>
              <a:spcBef>
                <a:spcPts val="50"/>
              </a:spcBef>
            </a:pPr>
            <a:fld id="{81D60167-4931-47E6-BA6A-407CBD079E47}" type="slidenum">
              <a:rPr spc="-25" dirty="0"/>
              <a:t>‹#›</a:t>
            </a:fld>
            <a:endParaRPr spc="-25"/>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8509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DA0962-10CA-055C-D4BF-64236F1ACD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0FDC6F-5E1B-8A0E-CB4F-4B7A2C741C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EE201-31A0-4C4C-9514-19598EE000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33F008-0792-4C0C-94B9-D9E680FFD720}" type="datetimeFigureOut">
              <a:rPr lang="en-IN" smtClean="0"/>
              <a:t>13-11-2025</a:t>
            </a:fld>
            <a:endParaRPr lang="en-IN"/>
          </a:p>
        </p:txBody>
      </p:sp>
      <p:sp>
        <p:nvSpPr>
          <p:cNvPr id="5" name="Footer Placeholder 4">
            <a:extLst>
              <a:ext uri="{FF2B5EF4-FFF2-40B4-BE49-F238E27FC236}">
                <a16:creationId xmlns:a16="http://schemas.microsoft.com/office/drawing/2014/main" id="{EB1377F3-D482-2123-E2E9-26F3BF33BF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A732351-7B3F-5CC0-79F5-02E9C1FBEE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22193A-116E-4FFD-9F75-F257B58240C4}" type="slidenum">
              <a:rPr lang="en-IN" smtClean="0"/>
              <a:t>‹#›</a:t>
            </a:fld>
            <a:endParaRPr lang="en-IN"/>
          </a:p>
        </p:txBody>
      </p:sp>
    </p:spTree>
    <p:extLst>
      <p:ext uri="{BB962C8B-B14F-4D97-AF65-F5344CB8AC3E}">
        <p14:creationId xmlns:p14="http://schemas.microsoft.com/office/powerpoint/2010/main" val="1184844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4" cstate="print"/>
          <a:stretch>
            <a:fillRect/>
          </a:stretch>
        </p:blipFill>
        <p:spPr>
          <a:xfrm>
            <a:off x="0" y="6410324"/>
            <a:ext cx="12192000" cy="447675"/>
          </a:xfrm>
          <a:prstGeom prst="rect">
            <a:avLst/>
          </a:prstGeom>
        </p:spPr>
      </p:pic>
      <p:pic>
        <p:nvPicPr>
          <p:cNvPr id="17" name="bg object 17"/>
          <p:cNvPicPr/>
          <p:nvPr/>
        </p:nvPicPr>
        <p:blipFill>
          <a:blip r:embed="rId5" cstate="print"/>
          <a:stretch>
            <a:fillRect/>
          </a:stretch>
        </p:blipFill>
        <p:spPr>
          <a:xfrm>
            <a:off x="10648950" y="6524623"/>
            <a:ext cx="1257300" cy="276225"/>
          </a:xfrm>
          <a:prstGeom prst="rect">
            <a:avLst/>
          </a:prstGeom>
        </p:spPr>
      </p:pic>
      <p:sp>
        <p:nvSpPr>
          <p:cNvPr id="2" name="Holder 2"/>
          <p:cNvSpPr>
            <a:spLocks noGrp="1"/>
          </p:cNvSpPr>
          <p:nvPr>
            <p:ph type="title"/>
          </p:nvPr>
        </p:nvSpPr>
        <p:spPr>
          <a:xfrm>
            <a:off x="420369" y="261302"/>
            <a:ext cx="8143875" cy="517525"/>
          </a:xfrm>
          <a:prstGeom prst="rect">
            <a:avLst/>
          </a:prstGeom>
        </p:spPr>
        <p:txBody>
          <a:bodyPr wrap="square" lIns="0" tIns="0" rIns="0" bIns="0">
            <a:spAutoFit/>
          </a:bodyPr>
          <a:lstStyle>
            <a:lvl1pPr>
              <a:defRPr sz="3200" b="0" i="0">
                <a:solidFill>
                  <a:srgbClr val="A3123E"/>
                </a:solidFill>
                <a:latin typeface="Times New Roman"/>
                <a:cs typeface="Times New Roman"/>
              </a:defRPr>
            </a:lvl1pPr>
          </a:lstStyle>
          <a:p>
            <a:endParaRPr/>
          </a:p>
        </p:txBody>
      </p:sp>
      <p:sp>
        <p:nvSpPr>
          <p:cNvPr id="3" name="Holder 3"/>
          <p:cNvSpPr>
            <a:spLocks noGrp="1"/>
          </p:cNvSpPr>
          <p:nvPr>
            <p:ph type="body" idx="1"/>
          </p:nvPr>
        </p:nvSpPr>
        <p:spPr>
          <a:xfrm>
            <a:off x="2382901" y="2479039"/>
            <a:ext cx="5618480" cy="2215515"/>
          </a:xfrm>
          <a:prstGeom prst="rect">
            <a:avLst/>
          </a:prstGeom>
        </p:spPr>
        <p:txBody>
          <a:bodyPr wrap="square" lIns="0" tIns="0" rIns="0" bIns="0">
            <a:spAutoFit/>
          </a:bodyPr>
          <a:lstStyle>
            <a:lvl1pPr>
              <a:defRPr sz="3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11/13/2025</a:t>
            </a:fld>
            <a:endParaRPr lang="en-US"/>
          </a:p>
        </p:txBody>
      </p:sp>
      <p:sp>
        <p:nvSpPr>
          <p:cNvPr id="6" name="Holder 6"/>
          <p:cNvSpPr>
            <a:spLocks noGrp="1"/>
          </p:cNvSpPr>
          <p:nvPr>
            <p:ph type="sldNum" sz="quarter" idx="7"/>
          </p:nvPr>
        </p:nvSpPr>
        <p:spPr>
          <a:xfrm>
            <a:off x="563562" y="6535799"/>
            <a:ext cx="273050" cy="270509"/>
          </a:xfrm>
          <a:prstGeom prst="rect">
            <a:avLst/>
          </a:prstGeom>
        </p:spPr>
        <p:txBody>
          <a:bodyPr wrap="square" lIns="0" tIns="0" rIns="0" bIns="0">
            <a:spAutoFit/>
          </a:bodyPr>
          <a:lstStyle>
            <a:lvl1pPr>
              <a:defRPr sz="1550" b="0" i="0">
                <a:solidFill>
                  <a:schemeClr val="bg1"/>
                </a:solidFill>
                <a:latin typeface="Calibri"/>
                <a:cs typeface="Calibri"/>
              </a:defRPr>
            </a:lvl1pPr>
          </a:lstStyle>
          <a:p>
            <a:pPr marL="12700">
              <a:lnSpc>
                <a:spcPct val="100000"/>
              </a:lnSpc>
              <a:spcBef>
                <a:spcPts val="50"/>
              </a:spcBef>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64" r:id="rId1"/>
    <p:sldLayoutId id="2147483666"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8085/index.html" TargetMode="Externa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B8114F"/>
          </a:solidFill>
        </p:spPr>
        <p:txBody>
          <a:bodyPr wrap="square" lIns="0" tIns="0" rIns="0" bIns="0" rtlCol="0"/>
          <a:lstStyle/>
          <a:p>
            <a:endParaRPr/>
          </a:p>
        </p:txBody>
      </p:sp>
      <p:pic>
        <p:nvPicPr>
          <p:cNvPr id="3" name="object 3"/>
          <p:cNvPicPr/>
          <p:nvPr/>
        </p:nvPicPr>
        <p:blipFill>
          <a:blip r:embed="rId2" cstate="print"/>
          <a:stretch>
            <a:fillRect/>
          </a:stretch>
        </p:blipFill>
        <p:spPr>
          <a:xfrm>
            <a:off x="1143000" y="4714875"/>
            <a:ext cx="4591050" cy="1476375"/>
          </a:xfrm>
          <a:prstGeom prst="rect">
            <a:avLst/>
          </a:prstGeom>
        </p:spPr>
      </p:pic>
      <p:sp>
        <p:nvSpPr>
          <p:cNvPr id="5" name="object 5"/>
          <p:cNvSpPr txBox="1"/>
          <p:nvPr/>
        </p:nvSpPr>
        <p:spPr>
          <a:xfrm>
            <a:off x="6334378" y="4541456"/>
            <a:ext cx="5484495" cy="2101850"/>
          </a:xfrm>
          <a:prstGeom prst="rect">
            <a:avLst/>
          </a:prstGeom>
        </p:spPr>
        <p:txBody>
          <a:bodyPr vert="horz" wrap="square" lIns="0" tIns="15875" rIns="0" bIns="0" rtlCol="0">
            <a:spAutoFit/>
          </a:bodyPr>
          <a:lstStyle/>
          <a:p>
            <a:pPr marL="12700">
              <a:lnSpc>
                <a:spcPct val="100000"/>
              </a:lnSpc>
              <a:spcBef>
                <a:spcPts val="125"/>
              </a:spcBef>
            </a:pPr>
            <a:r>
              <a:rPr sz="2150">
                <a:solidFill>
                  <a:srgbClr val="FFFFFF"/>
                </a:solidFill>
                <a:latin typeface="Times New Roman"/>
                <a:cs typeface="Times New Roman"/>
              </a:rPr>
              <a:t>B.</a:t>
            </a:r>
            <a:r>
              <a:rPr sz="2150" spc="75">
                <a:solidFill>
                  <a:srgbClr val="FFFFFF"/>
                </a:solidFill>
                <a:latin typeface="Times New Roman"/>
                <a:cs typeface="Times New Roman"/>
              </a:rPr>
              <a:t> </a:t>
            </a:r>
            <a:r>
              <a:rPr sz="2150">
                <a:solidFill>
                  <a:srgbClr val="FFFFFF"/>
                </a:solidFill>
                <a:latin typeface="Times New Roman"/>
                <a:cs typeface="Times New Roman"/>
              </a:rPr>
              <a:t>Tech</a:t>
            </a:r>
            <a:r>
              <a:rPr sz="2150" spc="135">
                <a:solidFill>
                  <a:srgbClr val="FFFFFF"/>
                </a:solidFill>
                <a:latin typeface="Times New Roman"/>
                <a:cs typeface="Times New Roman"/>
              </a:rPr>
              <a:t> </a:t>
            </a:r>
            <a:r>
              <a:rPr sz="2150">
                <a:solidFill>
                  <a:srgbClr val="FFFFFF"/>
                </a:solidFill>
                <a:latin typeface="Times New Roman"/>
                <a:cs typeface="Times New Roman"/>
              </a:rPr>
              <a:t>Artificial</a:t>
            </a:r>
            <a:r>
              <a:rPr sz="2150" spc="95">
                <a:solidFill>
                  <a:srgbClr val="FFFFFF"/>
                </a:solidFill>
                <a:latin typeface="Times New Roman"/>
                <a:cs typeface="Times New Roman"/>
              </a:rPr>
              <a:t> </a:t>
            </a:r>
            <a:r>
              <a:rPr sz="2150">
                <a:solidFill>
                  <a:srgbClr val="FFFFFF"/>
                </a:solidFill>
                <a:latin typeface="Times New Roman"/>
                <a:cs typeface="Times New Roman"/>
              </a:rPr>
              <a:t>Intelligence</a:t>
            </a:r>
            <a:r>
              <a:rPr sz="2150" spc="100">
                <a:solidFill>
                  <a:srgbClr val="FFFFFF"/>
                </a:solidFill>
                <a:latin typeface="Times New Roman"/>
                <a:cs typeface="Times New Roman"/>
              </a:rPr>
              <a:t> </a:t>
            </a:r>
            <a:r>
              <a:rPr sz="2150">
                <a:solidFill>
                  <a:srgbClr val="FFFFFF"/>
                </a:solidFill>
                <a:latin typeface="Times New Roman"/>
                <a:cs typeface="Times New Roman"/>
              </a:rPr>
              <a:t>and</a:t>
            </a:r>
            <a:r>
              <a:rPr sz="2150" spc="140">
                <a:solidFill>
                  <a:srgbClr val="FFFFFF"/>
                </a:solidFill>
                <a:latin typeface="Times New Roman"/>
                <a:cs typeface="Times New Roman"/>
              </a:rPr>
              <a:t> </a:t>
            </a:r>
            <a:r>
              <a:rPr sz="2150">
                <a:solidFill>
                  <a:srgbClr val="FFFFFF"/>
                </a:solidFill>
                <a:latin typeface="Times New Roman"/>
                <a:cs typeface="Times New Roman"/>
              </a:rPr>
              <a:t>Data</a:t>
            </a:r>
            <a:r>
              <a:rPr sz="2150" spc="100">
                <a:solidFill>
                  <a:srgbClr val="FFFFFF"/>
                </a:solidFill>
                <a:latin typeface="Times New Roman"/>
                <a:cs typeface="Times New Roman"/>
              </a:rPr>
              <a:t> </a:t>
            </a:r>
            <a:r>
              <a:rPr sz="2150" spc="-10">
                <a:solidFill>
                  <a:srgbClr val="FFFFFF"/>
                </a:solidFill>
                <a:latin typeface="Times New Roman"/>
                <a:cs typeface="Times New Roman"/>
              </a:rPr>
              <a:t>Science,</a:t>
            </a:r>
            <a:endParaRPr sz="2150">
              <a:latin typeface="Times New Roman"/>
              <a:cs typeface="Times New Roman"/>
            </a:endParaRPr>
          </a:p>
          <a:p>
            <a:pPr marL="12700">
              <a:lnSpc>
                <a:spcPct val="100000"/>
              </a:lnSpc>
              <a:spcBef>
                <a:spcPts val="125"/>
              </a:spcBef>
            </a:pPr>
            <a:r>
              <a:rPr sz="2150">
                <a:solidFill>
                  <a:srgbClr val="FFFFFF"/>
                </a:solidFill>
                <a:latin typeface="Times New Roman"/>
                <a:cs typeface="Times New Roman"/>
              </a:rPr>
              <a:t>Semester</a:t>
            </a:r>
            <a:r>
              <a:rPr sz="2150" spc="70">
                <a:solidFill>
                  <a:srgbClr val="FFFFFF"/>
                </a:solidFill>
                <a:latin typeface="Times New Roman"/>
                <a:cs typeface="Times New Roman"/>
              </a:rPr>
              <a:t> </a:t>
            </a:r>
            <a:r>
              <a:rPr sz="2150">
                <a:solidFill>
                  <a:srgbClr val="FFFFFF"/>
                </a:solidFill>
                <a:latin typeface="Times New Roman"/>
                <a:cs typeface="Times New Roman"/>
              </a:rPr>
              <a:t>V,</a:t>
            </a:r>
            <a:r>
              <a:rPr sz="2150" spc="110">
                <a:solidFill>
                  <a:srgbClr val="FFFFFF"/>
                </a:solidFill>
                <a:latin typeface="Times New Roman"/>
                <a:cs typeface="Times New Roman"/>
              </a:rPr>
              <a:t> </a:t>
            </a:r>
            <a:r>
              <a:rPr sz="2150">
                <a:solidFill>
                  <a:srgbClr val="FFFFFF"/>
                </a:solidFill>
                <a:latin typeface="Times New Roman"/>
                <a:cs typeface="Times New Roman"/>
              </a:rPr>
              <a:t>AID</a:t>
            </a:r>
            <a:r>
              <a:rPr sz="2150" spc="55">
                <a:solidFill>
                  <a:srgbClr val="FFFFFF"/>
                </a:solidFill>
                <a:latin typeface="Times New Roman"/>
                <a:cs typeface="Times New Roman"/>
              </a:rPr>
              <a:t> </a:t>
            </a:r>
            <a:r>
              <a:rPr sz="2150">
                <a:solidFill>
                  <a:srgbClr val="FFFFFF"/>
                </a:solidFill>
                <a:latin typeface="Times New Roman"/>
                <a:cs typeface="Times New Roman"/>
              </a:rPr>
              <a:t>-</a:t>
            </a:r>
            <a:r>
              <a:rPr sz="2150" spc="85">
                <a:solidFill>
                  <a:srgbClr val="FFFFFF"/>
                </a:solidFill>
                <a:latin typeface="Times New Roman"/>
                <a:cs typeface="Times New Roman"/>
              </a:rPr>
              <a:t> </a:t>
            </a:r>
            <a:r>
              <a:rPr sz="2150" spc="-50">
                <a:solidFill>
                  <a:srgbClr val="FFFFFF"/>
                </a:solidFill>
                <a:latin typeface="Times New Roman"/>
                <a:cs typeface="Times New Roman"/>
              </a:rPr>
              <a:t>F</a:t>
            </a:r>
            <a:endParaRPr sz="2150">
              <a:latin typeface="Times New Roman"/>
              <a:cs typeface="Times New Roman"/>
            </a:endParaRPr>
          </a:p>
          <a:p>
            <a:pPr marL="12700" marR="958850">
              <a:lnSpc>
                <a:spcPct val="101899"/>
              </a:lnSpc>
            </a:pPr>
            <a:r>
              <a:rPr sz="2150">
                <a:solidFill>
                  <a:srgbClr val="FFFFFF"/>
                </a:solidFill>
                <a:latin typeface="Times New Roman"/>
                <a:cs typeface="Times New Roman"/>
              </a:rPr>
              <a:t>Department</a:t>
            </a:r>
            <a:r>
              <a:rPr sz="2150" spc="170">
                <a:solidFill>
                  <a:srgbClr val="FFFFFF"/>
                </a:solidFill>
                <a:latin typeface="Times New Roman"/>
                <a:cs typeface="Times New Roman"/>
              </a:rPr>
              <a:t> </a:t>
            </a:r>
            <a:r>
              <a:rPr sz="2150">
                <a:solidFill>
                  <a:srgbClr val="FFFFFF"/>
                </a:solidFill>
                <a:latin typeface="Times New Roman"/>
                <a:cs typeface="Times New Roman"/>
              </a:rPr>
              <a:t>of</a:t>
            </a:r>
            <a:r>
              <a:rPr sz="2150" spc="125">
                <a:solidFill>
                  <a:srgbClr val="FFFFFF"/>
                </a:solidFill>
                <a:latin typeface="Times New Roman"/>
                <a:cs typeface="Times New Roman"/>
              </a:rPr>
              <a:t> </a:t>
            </a:r>
            <a:r>
              <a:rPr sz="2150">
                <a:solidFill>
                  <a:srgbClr val="FFFFFF"/>
                </a:solidFill>
                <a:latin typeface="Times New Roman"/>
                <a:cs typeface="Times New Roman"/>
              </a:rPr>
              <a:t>Artificial</a:t>
            </a:r>
            <a:r>
              <a:rPr sz="2150" spc="170">
                <a:solidFill>
                  <a:srgbClr val="FFFFFF"/>
                </a:solidFill>
                <a:latin typeface="Times New Roman"/>
                <a:cs typeface="Times New Roman"/>
              </a:rPr>
              <a:t> </a:t>
            </a:r>
            <a:r>
              <a:rPr sz="2150" spc="-10">
                <a:solidFill>
                  <a:srgbClr val="FFFFFF"/>
                </a:solidFill>
                <a:latin typeface="Times New Roman"/>
                <a:cs typeface="Times New Roman"/>
              </a:rPr>
              <a:t>Intelligence, </a:t>
            </a:r>
            <a:r>
              <a:rPr sz="2150">
                <a:solidFill>
                  <a:srgbClr val="FFFFFF"/>
                </a:solidFill>
                <a:latin typeface="Times New Roman"/>
                <a:cs typeface="Times New Roman"/>
              </a:rPr>
              <a:t>Amrita</a:t>
            </a:r>
            <a:r>
              <a:rPr sz="2150" spc="170">
                <a:solidFill>
                  <a:srgbClr val="FFFFFF"/>
                </a:solidFill>
                <a:latin typeface="Times New Roman"/>
                <a:cs typeface="Times New Roman"/>
              </a:rPr>
              <a:t> </a:t>
            </a:r>
            <a:r>
              <a:rPr sz="2150">
                <a:solidFill>
                  <a:srgbClr val="FFFFFF"/>
                </a:solidFill>
                <a:latin typeface="Times New Roman"/>
                <a:cs typeface="Times New Roman"/>
              </a:rPr>
              <a:t>School</a:t>
            </a:r>
            <a:r>
              <a:rPr sz="2150" spc="75">
                <a:solidFill>
                  <a:srgbClr val="FFFFFF"/>
                </a:solidFill>
                <a:latin typeface="Times New Roman"/>
                <a:cs typeface="Times New Roman"/>
              </a:rPr>
              <a:t> </a:t>
            </a:r>
            <a:r>
              <a:rPr sz="2150">
                <a:solidFill>
                  <a:srgbClr val="FFFFFF"/>
                </a:solidFill>
                <a:latin typeface="Times New Roman"/>
                <a:cs typeface="Times New Roman"/>
              </a:rPr>
              <a:t>of</a:t>
            </a:r>
            <a:r>
              <a:rPr sz="2150" spc="105">
                <a:solidFill>
                  <a:srgbClr val="FFFFFF"/>
                </a:solidFill>
                <a:latin typeface="Times New Roman"/>
                <a:cs typeface="Times New Roman"/>
              </a:rPr>
              <a:t> </a:t>
            </a:r>
            <a:r>
              <a:rPr sz="2150">
                <a:solidFill>
                  <a:srgbClr val="FFFFFF"/>
                </a:solidFill>
                <a:latin typeface="Times New Roman"/>
                <a:cs typeface="Times New Roman"/>
              </a:rPr>
              <a:t>Artificial</a:t>
            </a:r>
            <a:r>
              <a:rPr sz="2150" spc="80">
                <a:solidFill>
                  <a:srgbClr val="FFFFFF"/>
                </a:solidFill>
                <a:latin typeface="Times New Roman"/>
                <a:cs typeface="Times New Roman"/>
              </a:rPr>
              <a:t> </a:t>
            </a:r>
            <a:r>
              <a:rPr sz="2150" spc="-10">
                <a:solidFill>
                  <a:srgbClr val="FFFFFF"/>
                </a:solidFill>
                <a:latin typeface="Times New Roman"/>
                <a:cs typeface="Times New Roman"/>
              </a:rPr>
              <a:t>Intelligence, Bengaluru</a:t>
            </a:r>
            <a:endParaRPr sz="2150">
              <a:latin typeface="Times New Roman"/>
              <a:cs typeface="Times New Roman"/>
            </a:endParaRPr>
          </a:p>
          <a:p>
            <a:pPr marR="541655" algn="r">
              <a:lnSpc>
                <a:spcPct val="100000"/>
              </a:lnSpc>
              <a:spcBef>
                <a:spcPts val="1705"/>
              </a:spcBef>
            </a:pPr>
            <a:r>
              <a:rPr sz="1200" spc="-50">
                <a:solidFill>
                  <a:srgbClr val="FFFFFF"/>
                </a:solidFill>
                <a:latin typeface="Calibri"/>
                <a:cs typeface="Calibri"/>
              </a:rPr>
              <a:t>1</a:t>
            </a:r>
            <a:endParaRPr sz="1200">
              <a:latin typeface="Calibri"/>
              <a:cs typeface="Calibri"/>
            </a:endParaRPr>
          </a:p>
        </p:txBody>
      </p:sp>
      <p:sp>
        <p:nvSpPr>
          <p:cNvPr id="6" name="object 6"/>
          <p:cNvSpPr txBox="1"/>
          <p:nvPr/>
        </p:nvSpPr>
        <p:spPr>
          <a:xfrm>
            <a:off x="1941604" y="993956"/>
            <a:ext cx="8608149" cy="866648"/>
          </a:xfrm>
          <a:prstGeom prst="rect">
            <a:avLst/>
          </a:prstGeom>
        </p:spPr>
        <p:txBody>
          <a:bodyPr vert="horz" wrap="square" lIns="0" tIns="8890" rIns="0" bIns="0" rtlCol="0" anchor="t">
            <a:spAutoFit/>
          </a:bodyPr>
          <a:lstStyle/>
          <a:p>
            <a:pPr marL="12700" marR="5080" algn="ctr">
              <a:lnSpc>
                <a:spcPct val="100800"/>
              </a:lnSpc>
              <a:spcBef>
                <a:spcPts val="70"/>
              </a:spcBef>
            </a:pPr>
            <a:r>
              <a:rPr lang="en-US" sz="2800">
                <a:solidFill>
                  <a:schemeClr val="bg1"/>
                </a:solidFill>
              </a:rPr>
              <a:t>Cloud-Based Distributed CNN for Multi-Class Blood Cancer Classification Using MPI on AWS ECS</a:t>
            </a:r>
            <a:endParaRPr lang="en-US" sz="2800">
              <a:solidFill>
                <a:schemeClr val="bg1"/>
              </a:solidFill>
              <a:latin typeface="Times New Roman"/>
              <a:cs typeface="Times New Roman"/>
            </a:endParaRPr>
          </a:p>
        </p:txBody>
      </p:sp>
      <p:sp>
        <p:nvSpPr>
          <p:cNvPr id="7" name="object 7"/>
          <p:cNvSpPr txBox="1">
            <a:spLocks noGrp="1"/>
          </p:cNvSpPr>
          <p:nvPr>
            <p:ph type="title"/>
          </p:nvPr>
        </p:nvSpPr>
        <p:spPr>
          <a:xfrm>
            <a:off x="2275467" y="230940"/>
            <a:ext cx="7852465" cy="475130"/>
          </a:xfrm>
          <a:prstGeom prst="rect">
            <a:avLst/>
          </a:prstGeom>
        </p:spPr>
        <p:txBody>
          <a:bodyPr vert="horz" wrap="square" lIns="0" tIns="13335" rIns="0" bIns="0" rtlCol="0">
            <a:spAutoFit/>
          </a:bodyPr>
          <a:lstStyle/>
          <a:p>
            <a:pPr marL="12700" algn="ctr">
              <a:lnSpc>
                <a:spcPct val="100000"/>
              </a:lnSpc>
              <a:spcBef>
                <a:spcPts val="105"/>
              </a:spcBef>
            </a:pPr>
            <a:r>
              <a:rPr lang="en-US" sz="3000">
                <a:solidFill>
                  <a:srgbClr val="FFFFFF"/>
                </a:solidFill>
              </a:rPr>
              <a:t>23AID304</a:t>
            </a:r>
            <a:r>
              <a:rPr sz="3000">
                <a:solidFill>
                  <a:srgbClr val="FFFFFF"/>
                </a:solidFill>
              </a:rPr>
              <a:t>-</a:t>
            </a:r>
            <a:r>
              <a:rPr lang="en-US" sz="3000" spc="-40">
                <a:solidFill>
                  <a:srgbClr val="FFFFFF"/>
                </a:solidFill>
              </a:rPr>
              <a:t> High Performance and Cloud Computing</a:t>
            </a:r>
            <a:endParaRPr lang="en-IN" sz="3000" spc="-40">
              <a:solidFill>
                <a:srgbClr val="FFFFFF"/>
              </a:solidFill>
            </a:endParaRPr>
          </a:p>
        </p:txBody>
      </p:sp>
      <p:sp>
        <p:nvSpPr>
          <p:cNvPr id="8" name="TextBox 7">
            <a:extLst>
              <a:ext uri="{FF2B5EF4-FFF2-40B4-BE49-F238E27FC236}">
                <a16:creationId xmlns:a16="http://schemas.microsoft.com/office/drawing/2014/main" id="{1431A557-FA56-9517-EEB8-797F0CD9AB78}"/>
              </a:ext>
            </a:extLst>
          </p:cNvPr>
          <p:cNvSpPr txBox="1"/>
          <p:nvPr/>
        </p:nvSpPr>
        <p:spPr>
          <a:xfrm>
            <a:off x="1924436" y="2518093"/>
            <a:ext cx="8343125" cy="1815882"/>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ctr"/>
            <a:r>
              <a:rPr lang="en-US" sz="2800">
                <a:solidFill>
                  <a:schemeClr val="bg1"/>
                </a:solidFill>
              </a:rPr>
              <a:t>A PRESENTATION BY TEAM NO. 5:</a:t>
            </a:r>
          </a:p>
          <a:p>
            <a:pPr marL="285750" indent="-285750" algn="ctr">
              <a:buFont typeface="Calibri"/>
              <a:buChar char="-"/>
            </a:pPr>
            <a:r>
              <a:rPr lang="en-US" sz="2800">
                <a:solidFill>
                  <a:schemeClr val="bg1"/>
                </a:solidFill>
              </a:rPr>
              <a:t>BL.EN.U4AID23006 (B G Rajath Siddarth)</a:t>
            </a:r>
          </a:p>
          <a:p>
            <a:pPr marL="285750" indent="-285750" algn="ctr">
              <a:buFont typeface="Calibri"/>
              <a:buChar char="-"/>
            </a:pPr>
            <a:r>
              <a:rPr lang="en-US" sz="2800">
                <a:solidFill>
                  <a:schemeClr val="bg1"/>
                </a:solidFill>
              </a:rPr>
              <a:t>BL.EN.U4AID23054 (V. </a:t>
            </a:r>
            <a:r>
              <a:rPr lang="en-US" sz="2800" err="1">
                <a:solidFill>
                  <a:schemeClr val="bg1"/>
                </a:solidFill>
              </a:rPr>
              <a:t>Sidharrth</a:t>
            </a:r>
            <a:r>
              <a:rPr lang="en-US" sz="2800">
                <a:solidFill>
                  <a:schemeClr val="bg1"/>
                </a:solidFill>
              </a:rPr>
              <a:t>)</a:t>
            </a:r>
          </a:p>
          <a:p>
            <a:pPr marL="285750" indent="-285750" algn="ctr">
              <a:buFont typeface="Calibri"/>
              <a:buChar char="-"/>
            </a:pPr>
            <a:r>
              <a:rPr lang="en-US" sz="2800">
                <a:solidFill>
                  <a:schemeClr val="bg1"/>
                </a:solidFill>
              </a:rPr>
              <a:t>BL.EN.U4AID23063 (Paruchuri Sai)</a:t>
            </a:r>
          </a:p>
        </p:txBody>
      </p:sp>
      <p:sp>
        <p:nvSpPr>
          <p:cNvPr id="4" name="object 4"/>
          <p:cNvSpPr/>
          <p:nvPr/>
        </p:nvSpPr>
        <p:spPr>
          <a:xfrm>
            <a:off x="6221289" y="4641820"/>
            <a:ext cx="10160" cy="1557655"/>
          </a:xfrm>
          <a:custGeom>
            <a:avLst/>
            <a:gdLst/>
            <a:ahLst/>
            <a:cxnLst/>
            <a:rect l="l" t="t" r="r" b="b"/>
            <a:pathLst>
              <a:path w="10160" h="1557654">
                <a:moveTo>
                  <a:pt x="10160" y="0"/>
                </a:moveTo>
                <a:lnTo>
                  <a:pt x="0" y="1557591"/>
                </a:lnTo>
              </a:path>
            </a:pathLst>
          </a:custGeom>
          <a:ln w="9525">
            <a:solidFill>
              <a:srgbClr val="FFC000"/>
            </a:solidFill>
          </a:ln>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INTRODUCTION</a:t>
            </a:r>
          </a:p>
        </p:txBody>
      </p:sp>
      <p:sp>
        <p:nvSpPr>
          <p:cNvPr id="4" name="object 4"/>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a:t>
            </a:fld>
            <a:endParaRPr spc="-25"/>
          </a:p>
        </p:txBody>
      </p:sp>
      <p:sp>
        <p:nvSpPr>
          <p:cNvPr id="3" name="TextBox 2">
            <a:extLst>
              <a:ext uri="{FF2B5EF4-FFF2-40B4-BE49-F238E27FC236}">
                <a16:creationId xmlns:a16="http://schemas.microsoft.com/office/drawing/2014/main" id="{0217C1B4-0C7F-268B-C64C-335AA69DB05B}"/>
              </a:ext>
            </a:extLst>
          </p:cNvPr>
          <p:cNvSpPr txBox="1"/>
          <p:nvPr/>
        </p:nvSpPr>
        <p:spPr>
          <a:xfrm>
            <a:off x="27215" y="1211036"/>
            <a:ext cx="12164784"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800">
                <a:ea typeface="Calibri"/>
                <a:cs typeface="Calibri"/>
              </a:rPr>
              <a:t>The project focuses on blood cancer classification using microscopic images of Peripheral Blood Smear (PBS) samples.</a:t>
            </a:r>
          </a:p>
          <a:p>
            <a:endParaRPr lang="en-US" sz="2800">
              <a:ea typeface="Calibri"/>
              <a:cs typeface="Calibri"/>
            </a:endParaRPr>
          </a:p>
          <a:p>
            <a:pPr marL="228600" indent="-228600">
              <a:buFont typeface=""/>
              <a:buChar char="•"/>
            </a:pPr>
            <a:r>
              <a:rPr lang="en-US" sz="2800">
                <a:ea typeface="Calibri"/>
                <a:cs typeface="Calibri"/>
              </a:rPr>
              <a:t>3,242 images (89 patients) suspected of Acute Lymphoblastic Leukemia (ALL).</a:t>
            </a:r>
          </a:p>
          <a:p>
            <a:endParaRPr lang="en-US" sz="2800">
              <a:ea typeface="Calibri"/>
              <a:cs typeface="Calibri"/>
            </a:endParaRPr>
          </a:p>
          <a:p>
            <a:pPr marL="228600" indent="-228600">
              <a:buFont typeface=""/>
              <a:buChar char="•"/>
            </a:pPr>
            <a:r>
              <a:rPr lang="en-US" sz="2800">
                <a:ea typeface="Calibri"/>
                <a:cs typeface="Calibri"/>
              </a:rPr>
              <a:t>The dataset includes the following classes:</a:t>
            </a:r>
          </a:p>
          <a:p>
            <a:r>
              <a:rPr lang="en-US" sz="2800">
                <a:ea typeface="Calibri"/>
                <a:cs typeface="Calibri"/>
              </a:rPr>
              <a:t>Benign: 512 images</a:t>
            </a:r>
          </a:p>
          <a:p>
            <a:r>
              <a:rPr lang="en-US" sz="2800">
                <a:ea typeface="Calibri"/>
                <a:cs typeface="Calibri"/>
              </a:rPr>
              <a:t>Malignant Pre-B: 955 images</a:t>
            </a:r>
          </a:p>
          <a:p>
            <a:r>
              <a:rPr lang="en-US" sz="2800">
                <a:ea typeface="Calibri"/>
                <a:cs typeface="Calibri"/>
              </a:rPr>
              <a:t>Malignant Pro-B: 796 images</a:t>
            </a:r>
          </a:p>
          <a:p>
            <a:r>
              <a:rPr lang="en-US" sz="2800">
                <a:ea typeface="Calibri"/>
                <a:cs typeface="Calibri"/>
              </a:rPr>
              <a:t>Malignant Early Pre-B: 979 images</a:t>
            </a:r>
          </a:p>
          <a:p>
            <a:endParaRPr lang="en-US" sz="2800">
              <a:ea typeface="Calibri"/>
              <a:cs typeface="Calibri"/>
            </a:endParaRPr>
          </a:p>
          <a:p>
            <a:pPr marL="228600" indent="-228600">
              <a:buFont typeface=""/>
              <a:buChar char="•"/>
            </a:pPr>
            <a:r>
              <a:rPr lang="en-US" sz="2800">
                <a:ea typeface="Calibri"/>
                <a:cs typeface="Calibri"/>
              </a:rPr>
              <a:t>A 2D Convolutional Neural Network for blood cancer classification.</a:t>
            </a:r>
          </a:p>
          <a:p>
            <a:pPr marL="228600" indent="-228600">
              <a:buFont typeface=""/>
              <a:buChar char="•"/>
            </a:pPr>
            <a:endParaRPr lang="en-US" sz="2800">
              <a:ea typeface="Calibri"/>
              <a:cs typeface="Calibri"/>
            </a:endParaRPr>
          </a:p>
          <a:p>
            <a:pPr algn="ctr"/>
            <a:endParaRPr lang="en-US" sz="2800">
              <a:ea typeface="Calibri"/>
              <a:cs typeface="Calibri"/>
            </a:endParaRPr>
          </a:p>
        </p:txBody>
      </p:sp>
    </p:spTree>
    <p:extLst>
      <p:ext uri="{BB962C8B-B14F-4D97-AF65-F5344CB8AC3E}">
        <p14:creationId xmlns:p14="http://schemas.microsoft.com/office/powerpoint/2010/main" val="186856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47046-123A-7375-FE00-9E966EC3F45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B7F28CB-2561-AF65-27EF-A78794EE44D4}"/>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MOTIVATION</a:t>
            </a:r>
          </a:p>
        </p:txBody>
      </p:sp>
      <p:sp>
        <p:nvSpPr>
          <p:cNvPr id="4" name="object 4">
            <a:extLst>
              <a:ext uri="{FF2B5EF4-FFF2-40B4-BE49-F238E27FC236}">
                <a16:creationId xmlns:a16="http://schemas.microsoft.com/office/drawing/2014/main" id="{466F29EC-91C2-E679-8B62-4BF5DFA485C4}"/>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a:t>
            </a:fld>
            <a:endParaRPr spc="-25"/>
          </a:p>
        </p:txBody>
      </p:sp>
      <p:sp>
        <p:nvSpPr>
          <p:cNvPr id="5" name="TextBox 4">
            <a:extLst>
              <a:ext uri="{FF2B5EF4-FFF2-40B4-BE49-F238E27FC236}">
                <a16:creationId xmlns:a16="http://schemas.microsoft.com/office/drawing/2014/main" id="{C0D5C3C6-46FA-4756-DBD4-45808A77E595}"/>
              </a:ext>
            </a:extLst>
          </p:cNvPr>
          <p:cNvSpPr txBox="1"/>
          <p:nvPr/>
        </p:nvSpPr>
        <p:spPr>
          <a:xfrm>
            <a:off x="830036" y="1319893"/>
            <a:ext cx="10504713"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a:ea typeface="Calibri"/>
                <a:cs typeface="Calibri"/>
              </a:rPr>
              <a:t>CNN training: forward pass for feature extraction and a backward pass for updating weights.</a:t>
            </a:r>
            <a:endParaRPr lang="en-US">
              <a:ea typeface="Calibri"/>
              <a:cs typeface="Calibri"/>
            </a:endParaRPr>
          </a:p>
          <a:p>
            <a:pPr marL="457200" indent="-457200">
              <a:buFont typeface="Arial"/>
              <a:buChar char="•"/>
            </a:pPr>
            <a:r>
              <a:rPr lang="en-US" sz="2800">
                <a:ea typeface="Calibri"/>
                <a:cs typeface="Calibri"/>
              </a:rPr>
              <a:t>Computational cost: During backpropagation, gradients must be calculated for every layer</a:t>
            </a:r>
            <a:endParaRPr lang="en-US">
              <a:ea typeface="Calibri"/>
              <a:cs typeface="Calibri"/>
            </a:endParaRPr>
          </a:p>
          <a:p>
            <a:pPr marL="457200" indent="-457200">
              <a:buFont typeface="Arial"/>
              <a:buChar char="•"/>
            </a:pPr>
            <a:r>
              <a:rPr lang="en-US" sz="2800">
                <a:ea typeface="Calibri"/>
                <a:cs typeface="Calibri"/>
              </a:rPr>
              <a:t>Increase in training time with network depth.</a:t>
            </a:r>
          </a:p>
          <a:p>
            <a:pPr marL="457200" indent="-457200">
              <a:buFont typeface="Arial"/>
              <a:buChar char="•"/>
            </a:pPr>
            <a:r>
              <a:rPr lang="en-US" sz="2800">
                <a:ea typeface="Calibri"/>
                <a:cs typeface="Calibri"/>
              </a:rPr>
              <a:t>Speed improvement and better utilization of resources via parallel computation.</a:t>
            </a:r>
            <a:endParaRPr lang="en-US">
              <a:ea typeface="Calibri"/>
              <a:cs typeface="Calibri"/>
            </a:endParaRPr>
          </a:p>
          <a:p>
            <a:pPr marL="457200" indent="-457200">
              <a:buFont typeface="Arial"/>
              <a:buChar char="•"/>
            </a:pPr>
            <a:r>
              <a:rPr lang="en-US" sz="2800">
                <a:ea typeface="Calibri"/>
                <a:cs typeface="Calibri"/>
              </a:rPr>
              <a:t>Faster convergence and better feature representation for blood cancer image classification.</a:t>
            </a:r>
            <a:endParaRPr lang="en-US">
              <a:ea typeface="Calibri"/>
              <a:cs typeface="Calibri"/>
            </a:endParaRPr>
          </a:p>
          <a:p>
            <a:endParaRPr lang="en-US" sz="2800">
              <a:ea typeface="Calibri"/>
              <a:cs typeface="Calibri"/>
            </a:endParaRPr>
          </a:p>
          <a:p>
            <a:pPr algn="ctr"/>
            <a:endParaRPr lang="en-US" sz="2800">
              <a:ea typeface="Calibri"/>
              <a:cs typeface="Calibri"/>
            </a:endParaRPr>
          </a:p>
        </p:txBody>
      </p:sp>
    </p:spTree>
    <p:extLst>
      <p:ext uri="{BB962C8B-B14F-4D97-AF65-F5344CB8AC3E}">
        <p14:creationId xmlns:p14="http://schemas.microsoft.com/office/powerpoint/2010/main" val="1016026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5E1D-51EB-E40F-4482-F0FD9C5330A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ADC85F-7CC3-7256-90CA-AE5651EC7DFF}"/>
              </a:ext>
            </a:extLst>
          </p:cNvPr>
          <p:cNvSpPr txBox="1">
            <a:spLocks noGrp="1"/>
          </p:cNvSpPr>
          <p:nvPr>
            <p:ph type="title"/>
          </p:nvPr>
        </p:nvSpPr>
        <p:spPr>
          <a:xfrm>
            <a:off x="2022809" y="92780"/>
            <a:ext cx="8143875" cy="517525"/>
          </a:xfrm>
          <a:prstGeom prst="rect">
            <a:avLst/>
          </a:prstGeom>
        </p:spPr>
        <p:txBody>
          <a:bodyPr vert="horz" wrap="square" lIns="0" tIns="15875" rIns="0" bIns="0" rtlCol="0" anchor="t">
            <a:spAutoFit/>
          </a:bodyPr>
          <a:lstStyle/>
          <a:p>
            <a:pPr marL="12700" algn="ctr">
              <a:spcBef>
                <a:spcPts val="125"/>
              </a:spcBef>
            </a:pPr>
            <a:r>
              <a:rPr lang="en-US"/>
              <a:t>LITERATURE SURVEY</a:t>
            </a:r>
          </a:p>
        </p:txBody>
      </p:sp>
      <p:sp>
        <p:nvSpPr>
          <p:cNvPr id="4" name="object 4">
            <a:extLst>
              <a:ext uri="{FF2B5EF4-FFF2-40B4-BE49-F238E27FC236}">
                <a16:creationId xmlns:a16="http://schemas.microsoft.com/office/drawing/2014/main" id="{DE040546-A77A-386F-12A1-E63E1667F4FB}"/>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4</a:t>
            </a:fld>
            <a:endParaRPr spc="-25"/>
          </a:p>
        </p:txBody>
      </p:sp>
      <p:graphicFrame>
        <p:nvGraphicFramePr>
          <p:cNvPr id="3" name="Table 2">
            <a:extLst>
              <a:ext uri="{FF2B5EF4-FFF2-40B4-BE49-F238E27FC236}">
                <a16:creationId xmlns:a16="http://schemas.microsoft.com/office/drawing/2014/main" id="{B1F5264F-86D2-33B0-B5D5-096377B8C34A}"/>
              </a:ext>
            </a:extLst>
          </p:cNvPr>
          <p:cNvGraphicFramePr>
            <a:graphicFrameLocks noGrp="1"/>
          </p:cNvGraphicFramePr>
          <p:nvPr>
            <p:extLst>
              <p:ext uri="{D42A27DB-BD31-4B8C-83A1-F6EECF244321}">
                <p14:modId xmlns:p14="http://schemas.microsoft.com/office/powerpoint/2010/main" val="2489569887"/>
              </p:ext>
            </p:extLst>
          </p:nvPr>
        </p:nvGraphicFramePr>
        <p:xfrm>
          <a:off x="298621" y="689918"/>
          <a:ext cx="11662800" cy="5582920"/>
        </p:xfrm>
        <a:graphic>
          <a:graphicData uri="http://schemas.openxmlformats.org/drawingml/2006/table">
            <a:tbl>
              <a:tblPr firstRow="1" bandRow="1">
                <a:tableStyleId>{5C22544A-7EE6-4342-B048-85BDC9FD1C3A}</a:tableStyleId>
              </a:tblPr>
              <a:tblGrid>
                <a:gridCol w="2760869">
                  <a:extLst>
                    <a:ext uri="{9D8B030D-6E8A-4147-A177-3AD203B41FA5}">
                      <a16:colId xmlns:a16="http://schemas.microsoft.com/office/drawing/2014/main" val="34359856"/>
                    </a:ext>
                  </a:extLst>
                </a:gridCol>
                <a:gridCol w="3261511">
                  <a:extLst>
                    <a:ext uri="{9D8B030D-6E8A-4147-A177-3AD203B41FA5}">
                      <a16:colId xmlns:a16="http://schemas.microsoft.com/office/drawing/2014/main" val="174355503"/>
                    </a:ext>
                  </a:extLst>
                </a:gridCol>
                <a:gridCol w="2644877">
                  <a:extLst>
                    <a:ext uri="{9D8B030D-6E8A-4147-A177-3AD203B41FA5}">
                      <a16:colId xmlns:a16="http://schemas.microsoft.com/office/drawing/2014/main" val="1487963552"/>
                    </a:ext>
                  </a:extLst>
                </a:gridCol>
                <a:gridCol w="2995543">
                  <a:extLst>
                    <a:ext uri="{9D8B030D-6E8A-4147-A177-3AD203B41FA5}">
                      <a16:colId xmlns:a16="http://schemas.microsoft.com/office/drawing/2014/main" val="3290276789"/>
                    </a:ext>
                  </a:extLst>
                </a:gridCol>
              </a:tblGrid>
              <a:tr h="370840">
                <a:tc>
                  <a:txBody>
                    <a:bodyPr/>
                    <a:lstStyle/>
                    <a:p>
                      <a:pPr algn="l">
                        <a:buNone/>
                      </a:pPr>
                      <a:r>
                        <a:rPr lang="en-IN" b="1"/>
                        <a:t>Title &amp; Year </a:t>
                      </a:r>
                      <a:endParaRPr lang="en-IN"/>
                    </a:p>
                  </a:txBody>
                  <a:tcPr/>
                </a:tc>
                <a:tc>
                  <a:txBody>
                    <a:bodyPr/>
                    <a:lstStyle/>
                    <a:p>
                      <a:pPr algn="l"/>
                      <a:r>
                        <a:rPr lang="en-IN"/>
                        <a:t>Methodology</a:t>
                      </a:r>
                    </a:p>
                  </a:txBody>
                  <a:tcPr/>
                </a:tc>
                <a:tc>
                  <a:txBody>
                    <a:bodyPr/>
                    <a:lstStyle/>
                    <a:p>
                      <a:pPr algn="l">
                        <a:buNone/>
                      </a:pPr>
                      <a:r>
                        <a:rPr lang="en-IN" b="1"/>
                        <a:t>Technologies Used</a:t>
                      </a:r>
                      <a:endParaRPr lang="en-IN"/>
                    </a:p>
                  </a:txBody>
                  <a:tcPr/>
                </a:tc>
                <a:tc>
                  <a:txBody>
                    <a:bodyPr/>
                    <a:lstStyle/>
                    <a:p>
                      <a:pPr algn="l"/>
                      <a:r>
                        <a:rPr lang="en-IN"/>
                        <a:t>Challenges </a:t>
                      </a:r>
                    </a:p>
                  </a:txBody>
                  <a:tcPr/>
                </a:tc>
                <a:extLst>
                  <a:ext uri="{0D108BD9-81ED-4DB2-BD59-A6C34878D82A}">
                    <a16:rowId xmlns:a16="http://schemas.microsoft.com/office/drawing/2014/main" val="2461313227"/>
                  </a:ext>
                </a:extLst>
              </a:tr>
              <a:tr h="370839">
                <a:tc>
                  <a:txBody>
                    <a:bodyPr/>
                    <a:lstStyle/>
                    <a:p>
                      <a:pPr lvl="0" algn="l">
                        <a:buNone/>
                      </a:pPr>
                      <a:r>
                        <a:rPr lang="en-IN" b="0" i="0" u="none" strike="noStrike" noProof="0">
                          <a:latin typeface="Calibri"/>
                        </a:rPr>
                        <a:t>A Hybrid CUDA, OpenMP, and MPI Parallel TCA-Based Domain Adaptation for Classification of Very High-Resolution Remote Sensing Images (2023)</a:t>
                      </a:r>
                      <a:endParaRPr lang="en-US"/>
                    </a:p>
                  </a:txBody>
                  <a:tcPr/>
                </a:tc>
                <a:tc>
                  <a:txBody>
                    <a:bodyPr/>
                    <a:lstStyle/>
                    <a:p>
                      <a:pPr lvl="0" algn="l">
                        <a:buNone/>
                      </a:pPr>
                      <a:r>
                        <a:rPr lang="en-IN" b="0" i="0" u="none" strike="noStrike" noProof="0">
                          <a:latin typeface="Calibri"/>
                        </a:rPr>
                        <a:t>Implemented a Transfer Component Analysis based convolutional neural network for domain adaptation. </a:t>
                      </a:r>
                      <a:r>
                        <a:rPr lang="en-IN" b="0" i="0" u="none" strike="noStrike" noProof="0"/>
                        <a:t>Optimized the entire pipeline using hybrid parallelism across multi-node, multi-GPU systems.</a:t>
                      </a:r>
                      <a:endParaRPr lang="en-US"/>
                    </a:p>
                  </a:txBody>
                  <a:tcPr/>
                </a:tc>
                <a:tc>
                  <a:txBody>
                    <a:bodyPr/>
                    <a:lstStyle/>
                    <a:p>
                      <a:pPr lvl="0" algn="l">
                        <a:buNone/>
                      </a:pPr>
                      <a:r>
                        <a:rPr lang="en-IN" b="0" i="0" u="none" strike="noStrike" noProof="0">
                          <a:latin typeface="Calibri"/>
                        </a:rPr>
                        <a:t>MPI for distributed computing, OpenMP for CPU multithreading, CUDA for GPU acceleration, </a:t>
                      </a:r>
                      <a:r>
                        <a:rPr lang="en-IN" b="0" i="0" u="none" strike="noStrike" noProof="0"/>
                        <a:t>SVM for classification.</a:t>
                      </a:r>
                      <a:endParaRPr lang="en-US"/>
                    </a:p>
                  </a:txBody>
                  <a:tcPr/>
                </a:tc>
                <a:tc>
                  <a:txBody>
                    <a:bodyPr/>
                    <a:lstStyle/>
                    <a:p>
                      <a:pPr lvl="0" algn="l">
                        <a:buNone/>
                      </a:pPr>
                      <a:r>
                        <a:rPr lang="en-IN" b="0" i="0" u="none" strike="noStrike" noProof="0">
                          <a:latin typeface="Calibri"/>
                        </a:rPr>
                        <a:t>Complex multi-level parallelism, high GPU–CPU data transfer cost, scalability management, maintaining classification accuracy while optimizing speed.</a:t>
                      </a:r>
                      <a:endParaRPr lang="en-US"/>
                    </a:p>
                  </a:txBody>
                  <a:tcPr/>
                </a:tc>
                <a:extLst>
                  <a:ext uri="{0D108BD9-81ED-4DB2-BD59-A6C34878D82A}">
                    <a16:rowId xmlns:a16="http://schemas.microsoft.com/office/drawing/2014/main" val="3417342971"/>
                  </a:ext>
                </a:extLst>
              </a:tr>
              <a:tr h="370838">
                <a:tc>
                  <a:txBody>
                    <a:bodyPr/>
                    <a:lstStyle/>
                    <a:p>
                      <a:pPr lvl="0" algn="l">
                        <a:buNone/>
                      </a:pPr>
                      <a:r>
                        <a:rPr lang="en-IN" b="0" i="0" u="none" strike="noStrike" noProof="0">
                          <a:latin typeface="Calibri"/>
                        </a:rPr>
                        <a:t>Parallel Paradigms in Modern HPC: A Comparative Analysis of MPI, OpenMP, and CUDA (2022)</a:t>
                      </a:r>
                      <a:endParaRPr lang="en-US"/>
                    </a:p>
                  </a:txBody>
                  <a:tcPr/>
                </a:tc>
                <a:tc>
                  <a:txBody>
                    <a:bodyPr/>
                    <a:lstStyle/>
                    <a:p>
                      <a:pPr lvl="0" algn="l">
                        <a:buNone/>
                      </a:pPr>
                      <a:r>
                        <a:rPr lang="en-IN" b="0" i="0" u="none" strike="noStrike" noProof="0">
                          <a:latin typeface="Calibri"/>
                        </a:rPr>
                        <a:t>Compared modern parallel computing paradigms. </a:t>
                      </a:r>
                      <a:r>
                        <a:rPr lang="en-IN" b="0" i="0" u="none" strike="noStrike" noProof="0"/>
                        <a:t>Suggested hybrid model usage for heterogeneous HPC systems.</a:t>
                      </a:r>
                      <a:endParaRPr lang="en-US"/>
                    </a:p>
                  </a:txBody>
                  <a:tcPr/>
                </a:tc>
                <a:tc>
                  <a:txBody>
                    <a:bodyPr/>
                    <a:lstStyle/>
                    <a:p>
                      <a:pPr lvl="0" algn="l">
                        <a:buNone/>
                      </a:pPr>
                      <a:r>
                        <a:rPr lang="en-IN" b="0" i="0" u="none" strike="noStrike" noProof="0">
                          <a:latin typeface="Calibri"/>
                        </a:rPr>
                        <a:t>MPI (distributed memory), OpenMP (shared memory), CUDA (GPU computing), Hybrid HPC systems.</a:t>
                      </a:r>
                      <a:endParaRPr lang="en-US"/>
                    </a:p>
                  </a:txBody>
                  <a:tcPr/>
                </a:tc>
                <a:tc>
                  <a:txBody>
                    <a:bodyPr/>
                    <a:lstStyle/>
                    <a:p>
                      <a:pPr lvl="0" algn="l">
                        <a:buNone/>
                      </a:pPr>
                      <a:r>
                        <a:rPr lang="en-IN" b="0" i="0" u="none" strike="noStrike" noProof="0">
                          <a:latin typeface="Calibri"/>
                        </a:rPr>
                        <a:t>Communication overhead in MPI, limited scalability of OpenMP beyond single node, hardware dependency of CUDA.</a:t>
                      </a:r>
                    </a:p>
                  </a:txBody>
                  <a:tcPr/>
                </a:tc>
                <a:extLst>
                  <a:ext uri="{0D108BD9-81ED-4DB2-BD59-A6C34878D82A}">
                    <a16:rowId xmlns:a16="http://schemas.microsoft.com/office/drawing/2014/main" val="1157573854"/>
                  </a:ext>
                </a:extLst>
              </a:tr>
              <a:tr h="370838">
                <a:tc>
                  <a:txBody>
                    <a:bodyPr/>
                    <a:lstStyle/>
                    <a:p>
                      <a:pPr lvl="0" algn="l">
                        <a:buNone/>
                      </a:pPr>
                      <a:r>
                        <a:rPr lang="en-IN" b="0" i="0" u="none" strike="noStrike" noProof="0">
                          <a:latin typeface="Calibri"/>
                        </a:rPr>
                        <a:t>Parallel Classification Pipelines for Skin Cancer Detection Exploiting Hyperspectral Imaging on Hybrid Systems (2021)</a:t>
                      </a:r>
                      <a:endParaRPr lang="en-US"/>
                    </a:p>
                  </a:txBody>
                  <a:tcPr/>
                </a:tc>
                <a:tc>
                  <a:txBody>
                    <a:bodyPr/>
                    <a:lstStyle/>
                    <a:p>
                      <a:pPr lvl="0" algn="l">
                        <a:buNone/>
                      </a:pPr>
                      <a:r>
                        <a:rPr lang="en-IN" b="0" i="0" u="none" strike="noStrike" noProof="0">
                          <a:latin typeface="Calibri"/>
                        </a:rPr>
                        <a:t>Designed and evaluated 15 different pipeline variants for hyperspectral skin lesion classification. Combined CUDA and OpenMP to accelerate pre-processing,</a:t>
                      </a:r>
                      <a:endParaRPr lang="en-US"/>
                    </a:p>
                  </a:txBody>
                  <a:tcPr/>
                </a:tc>
                <a:tc>
                  <a:txBody>
                    <a:bodyPr/>
                    <a:lstStyle/>
                    <a:p>
                      <a:pPr lvl="0" algn="l">
                        <a:buNone/>
                      </a:pPr>
                      <a:r>
                        <a:rPr lang="en-IN" b="0" i="0" u="none" strike="noStrike" noProof="0">
                          <a:latin typeface="Calibri"/>
                        </a:rPr>
                        <a:t>CUDA for GPU acceleration, OpenMP for CPU parallelism, K-means segmentation, Hyperspectral Imaging (HSI).</a:t>
                      </a:r>
                      <a:endParaRPr lang="en-US"/>
                    </a:p>
                  </a:txBody>
                  <a:tcPr/>
                </a:tc>
                <a:tc>
                  <a:txBody>
                    <a:bodyPr/>
                    <a:lstStyle/>
                    <a:p>
                      <a:pPr lvl="0" algn="l">
                        <a:buNone/>
                      </a:pPr>
                      <a:r>
                        <a:rPr lang="en-IN" b="0" i="0" u="none" strike="noStrike" noProof="0">
                          <a:latin typeface="Calibri"/>
                        </a:rPr>
                        <a:t>Small dataset size, segmentation errors with similar spectral signatures, balancing CPU–GPU load for optimal speed, maintaining real-time performance.</a:t>
                      </a:r>
                      <a:endParaRPr lang="en-US"/>
                    </a:p>
                  </a:txBody>
                  <a:tcPr/>
                </a:tc>
                <a:extLst>
                  <a:ext uri="{0D108BD9-81ED-4DB2-BD59-A6C34878D82A}">
                    <a16:rowId xmlns:a16="http://schemas.microsoft.com/office/drawing/2014/main" val="2704436272"/>
                  </a:ext>
                </a:extLst>
              </a:tr>
            </a:tbl>
          </a:graphicData>
        </a:graphic>
      </p:graphicFrame>
    </p:spTree>
    <p:extLst>
      <p:ext uri="{BB962C8B-B14F-4D97-AF65-F5344CB8AC3E}">
        <p14:creationId xmlns:p14="http://schemas.microsoft.com/office/powerpoint/2010/main" val="347884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85688-36EA-A918-59A5-424C69AF4F7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1E7161-6FA4-8815-F271-AECE3DFE7E23}"/>
              </a:ext>
            </a:extLst>
          </p:cNvPr>
          <p:cNvSpPr txBox="1">
            <a:spLocks noGrp="1"/>
          </p:cNvSpPr>
          <p:nvPr>
            <p:ph type="title"/>
          </p:nvPr>
        </p:nvSpPr>
        <p:spPr>
          <a:xfrm>
            <a:off x="2022809" y="92780"/>
            <a:ext cx="8143875" cy="517525"/>
          </a:xfrm>
          <a:prstGeom prst="rect">
            <a:avLst/>
          </a:prstGeom>
        </p:spPr>
        <p:txBody>
          <a:bodyPr vert="horz" wrap="square" lIns="0" tIns="15875" rIns="0" bIns="0" rtlCol="0" anchor="t">
            <a:spAutoFit/>
          </a:bodyPr>
          <a:lstStyle/>
          <a:p>
            <a:pPr marL="12700" algn="ctr">
              <a:spcBef>
                <a:spcPts val="125"/>
              </a:spcBef>
            </a:pPr>
            <a:r>
              <a:rPr lang="en-US"/>
              <a:t>LITERATURE SURVEY</a:t>
            </a:r>
          </a:p>
        </p:txBody>
      </p:sp>
      <p:sp>
        <p:nvSpPr>
          <p:cNvPr id="4" name="object 4">
            <a:extLst>
              <a:ext uri="{FF2B5EF4-FFF2-40B4-BE49-F238E27FC236}">
                <a16:creationId xmlns:a16="http://schemas.microsoft.com/office/drawing/2014/main" id="{192D09CE-57CB-75FE-4F89-4DBF41CCC42E}"/>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5</a:t>
            </a:fld>
            <a:endParaRPr spc="-25"/>
          </a:p>
        </p:txBody>
      </p:sp>
      <p:graphicFrame>
        <p:nvGraphicFramePr>
          <p:cNvPr id="3" name="Table 2">
            <a:extLst>
              <a:ext uri="{FF2B5EF4-FFF2-40B4-BE49-F238E27FC236}">
                <a16:creationId xmlns:a16="http://schemas.microsoft.com/office/drawing/2014/main" id="{8C0DE600-7A82-DC78-24E2-E51760F6ED15}"/>
              </a:ext>
            </a:extLst>
          </p:cNvPr>
          <p:cNvGraphicFramePr>
            <a:graphicFrameLocks noGrp="1"/>
          </p:cNvGraphicFramePr>
          <p:nvPr>
            <p:extLst>
              <p:ext uri="{D42A27DB-BD31-4B8C-83A1-F6EECF244321}">
                <p14:modId xmlns:p14="http://schemas.microsoft.com/office/powerpoint/2010/main" val="1060819450"/>
              </p:ext>
            </p:extLst>
          </p:nvPr>
        </p:nvGraphicFramePr>
        <p:xfrm>
          <a:off x="573934" y="688963"/>
          <a:ext cx="11041626" cy="4668520"/>
        </p:xfrm>
        <a:graphic>
          <a:graphicData uri="http://schemas.openxmlformats.org/drawingml/2006/table">
            <a:tbl>
              <a:tblPr firstRow="1" bandRow="1">
                <a:tableStyleId>{5C22544A-7EE6-4342-B048-85BDC9FD1C3A}</a:tableStyleId>
              </a:tblPr>
              <a:tblGrid>
                <a:gridCol w="2890684">
                  <a:extLst>
                    <a:ext uri="{9D8B030D-6E8A-4147-A177-3AD203B41FA5}">
                      <a16:colId xmlns:a16="http://schemas.microsoft.com/office/drawing/2014/main" val="34359856"/>
                    </a:ext>
                  </a:extLst>
                </a:gridCol>
                <a:gridCol w="2861187">
                  <a:extLst>
                    <a:ext uri="{9D8B030D-6E8A-4147-A177-3AD203B41FA5}">
                      <a16:colId xmlns:a16="http://schemas.microsoft.com/office/drawing/2014/main" val="174355503"/>
                    </a:ext>
                  </a:extLst>
                </a:gridCol>
                <a:gridCol w="2644878">
                  <a:extLst>
                    <a:ext uri="{9D8B030D-6E8A-4147-A177-3AD203B41FA5}">
                      <a16:colId xmlns:a16="http://schemas.microsoft.com/office/drawing/2014/main" val="1487963552"/>
                    </a:ext>
                  </a:extLst>
                </a:gridCol>
                <a:gridCol w="2644877">
                  <a:extLst>
                    <a:ext uri="{9D8B030D-6E8A-4147-A177-3AD203B41FA5}">
                      <a16:colId xmlns:a16="http://schemas.microsoft.com/office/drawing/2014/main" val="3290276789"/>
                    </a:ext>
                  </a:extLst>
                </a:gridCol>
              </a:tblGrid>
              <a:tr h="370840">
                <a:tc>
                  <a:txBody>
                    <a:bodyPr/>
                    <a:lstStyle/>
                    <a:p>
                      <a:pPr>
                        <a:buNone/>
                      </a:pPr>
                      <a:r>
                        <a:rPr lang="en-IN" b="1"/>
                        <a:t>Title &amp; Year </a:t>
                      </a:r>
                      <a:endParaRPr lang="en-IN"/>
                    </a:p>
                  </a:txBody>
                  <a:tcPr/>
                </a:tc>
                <a:tc>
                  <a:txBody>
                    <a:bodyPr/>
                    <a:lstStyle/>
                    <a:p>
                      <a:r>
                        <a:rPr lang="en-IN"/>
                        <a:t>Methodology</a:t>
                      </a:r>
                    </a:p>
                  </a:txBody>
                  <a:tcPr/>
                </a:tc>
                <a:tc>
                  <a:txBody>
                    <a:bodyPr/>
                    <a:lstStyle/>
                    <a:p>
                      <a:pPr>
                        <a:buNone/>
                      </a:pPr>
                      <a:r>
                        <a:rPr lang="en-IN" b="1"/>
                        <a:t>Technologies Used</a:t>
                      </a:r>
                      <a:endParaRPr lang="en-IN"/>
                    </a:p>
                  </a:txBody>
                  <a:tcPr/>
                </a:tc>
                <a:tc>
                  <a:txBody>
                    <a:bodyPr/>
                    <a:lstStyle/>
                    <a:p>
                      <a:r>
                        <a:rPr lang="en-IN"/>
                        <a:t>Challenges </a:t>
                      </a:r>
                    </a:p>
                  </a:txBody>
                  <a:tcPr/>
                </a:tc>
                <a:extLst>
                  <a:ext uri="{0D108BD9-81ED-4DB2-BD59-A6C34878D82A}">
                    <a16:rowId xmlns:a16="http://schemas.microsoft.com/office/drawing/2014/main" val="2461313227"/>
                  </a:ext>
                </a:extLst>
              </a:tr>
              <a:tr h="370839">
                <a:tc>
                  <a:txBody>
                    <a:bodyPr/>
                    <a:lstStyle/>
                    <a:p>
                      <a:pPr lvl="0">
                        <a:buNone/>
                      </a:pPr>
                      <a:r>
                        <a:rPr lang="en-IN" b="0" i="0" u="none" strike="noStrike" noProof="0">
                          <a:latin typeface="Calibri"/>
                        </a:rPr>
                        <a:t>Deploying Deep Learning using AWS and DevOps (2022)</a:t>
                      </a:r>
                      <a:endParaRPr lang="en-US"/>
                    </a:p>
                  </a:txBody>
                  <a:tcPr/>
                </a:tc>
                <a:tc>
                  <a:txBody>
                    <a:bodyPr/>
                    <a:lstStyle/>
                    <a:p>
                      <a:pPr lvl="0">
                        <a:buNone/>
                      </a:pPr>
                      <a:r>
                        <a:rPr lang="en-IN" b="0" i="0" u="none" strike="noStrike" noProof="0">
                          <a:latin typeface="Calibri"/>
                        </a:rPr>
                        <a:t>Proposed a step-by-step workflow for deploying trained deep learning models using AWS cloud infrastructure and DevOps practices (Docker + Flask + EC2).</a:t>
                      </a:r>
                      <a:endParaRPr lang="en-US"/>
                    </a:p>
                  </a:txBody>
                  <a:tcPr/>
                </a:tc>
                <a:tc>
                  <a:txBody>
                    <a:bodyPr/>
                    <a:lstStyle/>
                    <a:p>
                      <a:pPr lvl="0">
                        <a:buNone/>
                      </a:pPr>
                      <a:r>
                        <a:rPr lang="en-IN" b="0" i="0" u="none" strike="noStrike" noProof="0">
                          <a:latin typeface="Calibri"/>
                        </a:rPr>
                        <a:t>AWS EC2, Docker, Flask, TensorFlow/</a:t>
                      </a:r>
                      <a:r>
                        <a:rPr lang="en-IN" b="0" i="0" u="none" strike="noStrike" noProof="0" err="1">
                          <a:latin typeface="Calibri"/>
                        </a:rPr>
                        <a:t>Keras</a:t>
                      </a:r>
                      <a:r>
                        <a:rPr lang="en-IN" b="0" i="0" u="none" strike="noStrike" noProof="0">
                          <a:latin typeface="Calibri"/>
                        </a:rPr>
                        <a:t>, Terraform, Python.</a:t>
                      </a:r>
                      <a:endParaRPr lang="en-US"/>
                    </a:p>
                  </a:txBody>
                  <a:tcPr/>
                </a:tc>
                <a:tc>
                  <a:txBody>
                    <a:bodyPr/>
                    <a:lstStyle/>
                    <a:p>
                      <a:pPr lvl="0">
                        <a:buNone/>
                      </a:pPr>
                      <a:r>
                        <a:rPr lang="en-IN" b="0" i="0" u="none" strike="noStrike" noProof="0">
                          <a:latin typeface="Calibri"/>
                        </a:rPr>
                        <a:t>Lack of production-grade CI/CD setup, no autoscaling or monitoring, dependency management issues, single-instance deployment limits scalability.</a:t>
                      </a:r>
                      <a:endParaRPr lang="en-US"/>
                    </a:p>
                  </a:txBody>
                  <a:tcPr/>
                </a:tc>
                <a:extLst>
                  <a:ext uri="{0D108BD9-81ED-4DB2-BD59-A6C34878D82A}">
                    <a16:rowId xmlns:a16="http://schemas.microsoft.com/office/drawing/2014/main" val="3417342971"/>
                  </a:ext>
                </a:extLst>
              </a:tr>
              <a:tr h="370838">
                <a:tc>
                  <a:txBody>
                    <a:bodyPr/>
                    <a:lstStyle/>
                    <a:p>
                      <a:pPr lvl="0">
                        <a:buNone/>
                      </a:pPr>
                      <a:r>
                        <a:rPr lang="en-IN" b="0" i="0" u="none" strike="noStrike" noProof="0">
                          <a:latin typeface="Calibri"/>
                        </a:rPr>
                        <a:t>Breast Cancer Detection Using Machine Learning and AWS (2021)</a:t>
                      </a:r>
                      <a:endParaRPr lang="en-US"/>
                    </a:p>
                  </a:txBody>
                  <a:tcPr/>
                </a:tc>
                <a:tc>
                  <a:txBody>
                    <a:bodyPr/>
                    <a:lstStyle/>
                    <a:p>
                      <a:pPr lvl="0">
                        <a:buNone/>
                      </a:pPr>
                      <a:r>
                        <a:rPr lang="en-IN" b="0" i="0" u="none" strike="noStrike" noProof="0">
                          <a:latin typeface="Calibri"/>
                        </a:rPr>
                        <a:t>Applied traditional ML algorithms (SVM, KNN, Random Forest) on the Wisconsin Breast Cancer dataset for binary classification, and deployed models via AWS for web-based prediction.</a:t>
                      </a:r>
                      <a:endParaRPr lang="en-US"/>
                    </a:p>
                  </a:txBody>
                  <a:tcPr/>
                </a:tc>
                <a:tc>
                  <a:txBody>
                    <a:bodyPr/>
                    <a:lstStyle/>
                    <a:p>
                      <a:pPr lvl="0">
                        <a:buNone/>
                      </a:pPr>
                      <a:r>
                        <a:rPr lang="en-IN" b="0" i="0" u="none" strike="noStrike" noProof="0">
                          <a:latin typeface="Calibri"/>
                        </a:rPr>
                        <a:t>AWS EC2, Python, Scikit-learn, Flask, HTML/CSS front-end.</a:t>
                      </a:r>
                      <a:endParaRPr lang="en-US"/>
                    </a:p>
                  </a:txBody>
                  <a:tcPr/>
                </a:tc>
                <a:tc>
                  <a:txBody>
                    <a:bodyPr/>
                    <a:lstStyle/>
                    <a:p>
                      <a:pPr lvl="0">
                        <a:buNone/>
                      </a:pPr>
                      <a:r>
                        <a:rPr lang="en-IN" b="0" i="0" u="none" strike="noStrike" noProof="0">
                          <a:latin typeface="Calibri"/>
                        </a:rPr>
                        <a:t>Small dataset (risk of overfitting), limited feature engineering, simple deployment lacking monitoring, poor generalization to real-world clinical data.</a:t>
                      </a:r>
                      <a:endParaRPr lang="en-US"/>
                    </a:p>
                  </a:txBody>
                  <a:tcPr/>
                </a:tc>
                <a:extLst>
                  <a:ext uri="{0D108BD9-81ED-4DB2-BD59-A6C34878D82A}">
                    <a16:rowId xmlns:a16="http://schemas.microsoft.com/office/drawing/2014/main" val="2704436272"/>
                  </a:ext>
                </a:extLst>
              </a:tr>
            </a:tbl>
          </a:graphicData>
        </a:graphic>
      </p:graphicFrame>
    </p:spTree>
    <p:extLst>
      <p:ext uri="{BB962C8B-B14F-4D97-AF65-F5344CB8AC3E}">
        <p14:creationId xmlns:p14="http://schemas.microsoft.com/office/powerpoint/2010/main" val="4036979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EECE-E84E-1173-E6F6-677097D749E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18B28D2-054B-56CC-F434-CC266EFE644F}"/>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DATA PARALLELISM</a:t>
            </a:r>
          </a:p>
        </p:txBody>
      </p:sp>
      <p:sp>
        <p:nvSpPr>
          <p:cNvPr id="4" name="object 4">
            <a:extLst>
              <a:ext uri="{FF2B5EF4-FFF2-40B4-BE49-F238E27FC236}">
                <a16:creationId xmlns:a16="http://schemas.microsoft.com/office/drawing/2014/main" id="{C3DD2071-B82E-453F-B3EC-08C338F0E16B}"/>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6</a:t>
            </a:fld>
            <a:endParaRPr spc="-25"/>
          </a:p>
        </p:txBody>
      </p:sp>
      <p:sp>
        <p:nvSpPr>
          <p:cNvPr id="3" name="TextBox 2">
            <a:extLst>
              <a:ext uri="{FF2B5EF4-FFF2-40B4-BE49-F238E27FC236}">
                <a16:creationId xmlns:a16="http://schemas.microsoft.com/office/drawing/2014/main" id="{06B44E01-8F60-4D0A-6049-7DD412424758}"/>
              </a:ext>
            </a:extLst>
          </p:cNvPr>
          <p:cNvSpPr txBox="1"/>
          <p:nvPr/>
        </p:nvSpPr>
        <p:spPr>
          <a:xfrm>
            <a:off x="309940" y="1481667"/>
            <a:ext cx="1152524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ea typeface="Calibri"/>
                <a:cs typeface="Calibri"/>
              </a:rPr>
              <a:t>The same model is replicated across multiple devices, and each device processes a different portion of the dataset simultaneously.</a:t>
            </a:r>
          </a:p>
          <a:p>
            <a:endParaRPr lang="en-US" sz="3200">
              <a:ea typeface="Calibri"/>
              <a:cs typeface="Calibri"/>
            </a:endParaRPr>
          </a:p>
          <a:p>
            <a:r>
              <a:rPr lang="en-US" sz="3200">
                <a:ea typeface="Calibri"/>
                <a:cs typeface="Calibri"/>
              </a:rPr>
              <a:t>Example: </a:t>
            </a:r>
          </a:p>
          <a:p>
            <a:r>
              <a:rPr lang="en-US" sz="3200">
                <a:ea typeface="Calibri"/>
                <a:cs typeface="Calibri"/>
              </a:rPr>
              <a:t>Dataset of 3,242 images split across 4 nodes</a:t>
            </a:r>
          </a:p>
          <a:p>
            <a:r>
              <a:rPr lang="en-US" sz="3200">
                <a:ea typeface="Calibri"/>
                <a:cs typeface="Calibri"/>
              </a:rPr>
              <a:t>Each node gets approximately 810 images.</a:t>
            </a:r>
          </a:p>
          <a:p>
            <a:endParaRPr lang="en-US" sz="3200">
              <a:ea typeface="Calibri"/>
              <a:cs typeface="Calibri"/>
            </a:endParaRPr>
          </a:p>
          <a:p>
            <a:r>
              <a:rPr lang="en-US" sz="3200">
                <a:ea typeface="Calibri"/>
                <a:cs typeface="Calibri"/>
              </a:rPr>
              <a:t>Each node computes forward and backward passes independently.</a:t>
            </a:r>
          </a:p>
          <a:p>
            <a:r>
              <a:rPr lang="en-US" sz="3200">
                <a:ea typeface="Calibri"/>
                <a:cs typeface="Calibri"/>
              </a:rPr>
              <a:t>Gradients are averaged across nodes to update model weights.</a:t>
            </a:r>
          </a:p>
        </p:txBody>
      </p:sp>
    </p:spTree>
    <p:extLst>
      <p:ext uri="{BB962C8B-B14F-4D97-AF65-F5344CB8AC3E}">
        <p14:creationId xmlns:p14="http://schemas.microsoft.com/office/powerpoint/2010/main" val="4611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18DF-33D0-CA73-8376-92F49044C10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372191-9F3D-AD14-9E4F-9CD6023D0672}"/>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MODEL PARALLELISM</a:t>
            </a:r>
          </a:p>
        </p:txBody>
      </p:sp>
      <p:sp>
        <p:nvSpPr>
          <p:cNvPr id="4" name="object 4">
            <a:extLst>
              <a:ext uri="{FF2B5EF4-FFF2-40B4-BE49-F238E27FC236}">
                <a16:creationId xmlns:a16="http://schemas.microsoft.com/office/drawing/2014/main" id="{1DD94DF3-9939-B0F6-1145-6CC4FE0570DB}"/>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7</a:t>
            </a:fld>
            <a:endParaRPr spc="-25"/>
          </a:p>
        </p:txBody>
      </p:sp>
      <p:sp>
        <p:nvSpPr>
          <p:cNvPr id="3" name="TextBox 2">
            <a:extLst>
              <a:ext uri="{FF2B5EF4-FFF2-40B4-BE49-F238E27FC236}">
                <a16:creationId xmlns:a16="http://schemas.microsoft.com/office/drawing/2014/main" id="{6CB484FE-C94A-BEF4-54B0-1677045A81DD}"/>
              </a:ext>
            </a:extLst>
          </p:cNvPr>
          <p:cNvSpPr txBox="1"/>
          <p:nvPr/>
        </p:nvSpPr>
        <p:spPr>
          <a:xfrm>
            <a:off x="-3024" y="1032631"/>
            <a:ext cx="12164784"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ea typeface="Calibri"/>
                <a:cs typeface="Calibri"/>
              </a:rPr>
              <a:t> The model is split across multiple devices, where different layers or branches are computed on different devices.</a:t>
            </a:r>
          </a:p>
          <a:p>
            <a:endParaRPr lang="en-US" sz="2800">
              <a:ea typeface="Calibri"/>
              <a:cs typeface="Calibri"/>
            </a:endParaRPr>
          </a:p>
          <a:p>
            <a:r>
              <a:rPr lang="en-US" sz="2800">
                <a:ea typeface="Calibri"/>
                <a:cs typeface="Calibri"/>
              </a:rPr>
              <a:t>Example: </a:t>
            </a:r>
          </a:p>
          <a:p>
            <a:r>
              <a:rPr lang="en-US" sz="2800">
                <a:ea typeface="Calibri"/>
                <a:cs typeface="Calibri"/>
              </a:rPr>
              <a:t>Layer 1 (Conv2D + Pooling): Node 1</a:t>
            </a:r>
          </a:p>
          <a:p>
            <a:r>
              <a:rPr lang="en-US" sz="2800">
                <a:ea typeface="Calibri"/>
                <a:cs typeface="Calibri"/>
              </a:rPr>
              <a:t>Layer 2 (Conv2D + Pooling): Node 2</a:t>
            </a:r>
          </a:p>
          <a:p>
            <a:r>
              <a:rPr lang="en-US" sz="2800">
                <a:ea typeface="Calibri"/>
                <a:cs typeface="Calibri"/>
              </a:rPr>
              <a:t>Fully Connected + Output: Node 3</a:t>
            </a:r>
          </a:p>
          <a:p>
            <a:endParaRPr lang="en-US" sz="2800">
              <a:ea typeface="Calibri"/>
              <a:cs typeface="Calibri"/>
            </a:endParaRPr>
          </a:p>
          <a:p>
            <a:r>
              <a:rPr lang="en-US" sz="2800">
                <a:ea typeface="Calibri"/>
                <a:cs typeface="Calibri"/>
              </a:rPr>
              <a:t>Each node handles part of the computation simultaneously, passing intermediate outputs forward.</a:t>
            </a:r>
          </a:p>
          <a:p>
            <a:r>
              <a:rPr lang="en-US" sz="2800">
                <a:ea typeface="Calibri"/>
                <a:cs typeface="Calibri"/>
              </a:rPr>
              <a:t>Allows larger models to be trained and reduces memory bottlenecks.</a:t>
            </a:r>
          </a:p>
          <a:p>
            <a:endParaRPr lang="en-US" sz="2800">
              <a:ea typeface="Calibri"/>
              <a:cs typeface="Calibri"/>
            </a:endParaRPr>
          </a:p>
          <a:p>
            <a:pPr algn="ctr"/>
            <a:endParaRPr lang="en-US" sz="2800">
              <a:ea typeface="Calibri"/>
              <a:cs typeface="Calibri"/>
            </a:endParaRPr>
          </a:p>
          <a:p>
            <a:endParaRPr lang="en-US" sz="2800">
              <a:ea typeface="Calibri"/>
              <a:cs typeface="Calibri"/>
            </a:endParaRPr>
          </a:p>
        </p:txBody>
      </p:sp>
    </p:spTree>
    <p:extLst>
      <p:ext uri="{BB962C8B-B14F-4D97-AF65-F5344CB8AC3E}">
        <p14:creationId xmlns:p14="http://schemas.microsoft.com/office/powerpoint/2010/main" val="3930886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32547-0E67-9E0B-3E31-35D1DCE3342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3DDB8C7-E9D2-CB70-1FCA-E69A29A78705}"/>
              </a:ext>
            </a:extLst>
          </p:cNvPr>
          <p:cNvSpPr txBox="1">
            <a:spLocks noGrp="1"/>
          </p:cNvSpPr>
          <p:nvPr>
            <p:ph type="title"/>
          </p:nvPr>
        </p:nvSpPr>
        <p:spPr>
          <a:xfrm>
            <a:off x="825382" y="250096"/>
            <a:ext cx="10389053" cy="1000915"/>
          </a:xfrm>
          <a:prstGeom prst="rect">
            <a:avLst/>
          </a:prstGeom>
        </p:spPr>
        <p:txBody>
          <a:bodyPr vert="horz" wrap="square" lIns="0" tIns="15875" rIns="0" bIns="0" rtlCol="0" anchor="t">
            <a:spAutoFit/>
          </a:bodyPr>
          <a:lstStyle/>
          <a:p>
            <a:pPr marL="12700" algn="ctr">
              <a:spcBef>
                <a:spcPts val="125"/>
              </a:spcBef>
            </a:pPr>
            <a:r>
              <a:rPr lang="en-US"/>
              <a:t>WHY ONLY DATA PARALLELISM HAS BEEN CHOSEN OVER MODEL PARALLELISM IN THIS STUDY?</a:t>
            </a:r>
          </a:p>
        </p:txBody>
      </p:sp>
      <p:sp>
        <p:nvSpPr>
          <p:cNvPr id="4" name="object 4">
            <a:extLst>
              <a:ext uri="{FF2B5EF4-FFF2-40B4-BE49-F238E27FC236}">
                <a16:creationId xmlns:a16="http://schemas.microsoft.com/office/drawing/2014/main" id="{2C235CF4-2361-1713-FC73-B099FD3F3B4F}"/>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8</a:t>
            </a:fld>
            <a:endParaRPr spc="-25"/>
          </a:p>
        </p:txBody>
      </p:sp>
      <p:sp>
        <p:nvSpPr>
          <p:cNvPr id="5" name="TextBox 4">
            <a:extLst>
              <a:ext uri="{FF2B5EF4-FFF2-40B4-BE49-F238E27FC236}">
                <a16:creationId xmlns:a16="http://schemas.microsoft.com/office/drawing/2014/main" id="{6E6D9D7D-A06F-2A40-D566-02541A53C1C8}"/>
              </a:ext>
            </a:extLst>
          </p:cNvPr>
          <p:cNvSpPr txBox="1"/>
          <p:nvPr/>
        </p:nvSpPr>
        <p:spPr>
          <a:xfrm>
            <a:off x="1" y="1510393"/>
            <a:ext cx="12205605"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3600"/>
              <a:t>Model fits in memory.</a:t>
            </a:r>
            <a:endParaRPr lang="en-US" sz="3600">
              <a:ea typeface="Calibri"/>
              <a:cs typeface="Calibri"/>
            </a:endParaRPr>
          </a:p>
          <a:p>
            <a:pPr marL="228600" indent="-228600">
              <a:buFont typeface=""/>
              <a:buChar char="•"/>
            </a:pPr>
            <a:r>
              <a:rPr lang="en-US" sz="3600"/>
              <a:t>Unnecessary complexity: Model parallelism adds overhead for layer splitting and synchronization, which isn’t needed for a relatively small model.</a:t>
            </a:r>
            <a:endParaRPr lang="en-US" sz="3600">
              <a:ea typeface="Calibri"/>
              <a:cs typeface="Calibri"/>
            </a:endParaRPr>
          </a:p>
          <a:p>
            <a:pPr marL="228600" indent="-228600">
              <a:buFont typeface=""/>
              <a:buChar char="•"/>
            </a:pPr>
            <a:r>
              <a:rPr lang="en-US" sz="3600"/>
              <a:t>Efficient training with data parallelism: Dividing the dataset across nodes provides faster training with minimal overhead.</a:t>
            </a:r>
            <a:endParaRPr lang="en-US" sz="3600">
              <a:ea typeface="Calibri"/>
              <a:cs typeface="Calibri"/>
            </a:endParaRPr>
          </a:p>
          <a:p>
            <a:endParaRPr lang="en-US" sz="3600">
              <a:ea typeface="Calibri"/>
              <a:cs typeface="Calibri"/>
            </a:endParaRPr>
          </a:p>
          <a:p>
            <a:endParaRPr lang="en-US" sz="3600">
              <a:ea typeface="Calibri"/>
              <a:cs typeface="Calibri"/>
            </a:endParaRPr>
          </a:p>
          <a:p>
            <a:endParaRPr lang="en-US" sz="3600">
              <a:ea typeface="Calibri"/>
              <a:cs typeface="Calibri"/>
            </a:endParaRPr>
          </a:p>
          <a:p>
            <a:pPr algn="ctr"/>
            <a:endParaRPr lang="en-US" sz="3600">
              <a:ea typeface="Calibri"/>
              <a:cs typeface="Calibri"/>
            </a:endParaRPr>
          </a:p>
        </p:txBody>
      </p:sp>
    </p:spTree>
    <p:extLst>
      <p:ext uri="{BB962C8B-B14F-4D97-AF65-F5344CB8AC3E}">
        <p14:creationId xmlns:p14="http://schemas.microsoft.com/office/powerpoint/2010/main" val="1286233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BC05-40BB-5614-E58C-3B188AA998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B487093-A0EE-4F1F-7DBA-0F19E0C8FF76}"/>
              </a:ext>
            </a:extLst>
          </p:cNvPr>
          <p:cNvSpPr txBox="1">
            <a:spLocks noGrp="1"/>
          </p:cNvSpPr>
          <p:nvPr>
            <p:ph type="title"/>
          </p:nvPr>
        </p:nvSpPr>
        <p:spPr>
          <a:xfrm>
            <a:off x="2102682" y="116266"/>
            <a:ext cx="8143875" cy="1000915"/>
          </a:xfrm>
          <a:prstGeom prst="rect">
            <a:avLst/>
          </a:prstGeom>
        </p:spPr>
        <p:txBody>
          <a:bodyPr vert="horz" wrap="square" lIns="0" tIns="15875" rIns="0" bIns="0" rtlCol="0" anchor="t">
            <a:spAutoFit/>
          </a:bodyPr>
          <a:lstStyle/>
          <a:p>
            <a:pPr marL="12700" algn="ctr">
              <a:spcBef>
                <a:spcPts val="125"/>
              </a:spcBef>
            </a:pPr>
            <a:r>
              <a:rPr lang="en-US"/>
              <a:t>MASTER NODE DATA PREPARATION AND DISTRIBUTION</a:t>
            </a:r>
          </a:p>
        </p:txBody>
      </p:sp>
      <p:sp>
        <p:nvSpPr>
          <p:cNvPr id="4" name="object 4">
            <a:extLst>
              <a:ext uri="{FF2B5EF4-FFF2-40B4-BE49-F238E27FC236}">
                <a16:creationId xmlns:a16="http://schemas.microsoft.com/office/drawing/2014/main" id="{70BD9C72-0C60-8DD8-1C4B-7ABCFC70DA54}"/>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9</a:t>
            </a:fld>
            <a:endParaRPr spc="-25"/>
          </a:p>
        </p:txBody>
      </p:sp>
      <p:sp>
        <p:nvSpPr>
          <p:cNvPr id="6" name="TextBox 5">
            <a:extLst>
              <a:ext uri="{FF2B5EF4-FFF2-40B4-BE49-F238E27FC236}">
                <a16:creationId xmlns:a16="http://schemas.microsoft.com/office/drawing/2014/main" id="{04A1E192-7111-B8CE-2A3B-DBE12797C838}"/>
              </a:ext>
            </a:extLst>
          </p:cNvPr>
          <p:cNvSpPr txBox="1"/>
          <p:nvPr/>
        </p:nvSpPr>
        <p:spPr>
          <a:xfrm>
            <a:off x="369095" y="1297781"/>
            <a:ext cx="11620497"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MPI (Message Passing Interface) used for parallel processing across CPU cores.</a:t>
            </a:r>
          </a:p>
          <a:p>
            <a:r>
              <a:rPr lang="en-US" sz="2400">
                <a:ea typeface="Calibri"/>
                <a:cs typeface="Calibri"/>
              </a:rPr>
              <a:t>MPI.COMM_WORLD: group of all processes involved.</a:t>
            </a:r>
          </a:p>
          <a:p>
            <a:r>
              <a:rPr lang="en-US" sz="2400" err="1">
                <a:ea typeface="Calibri"/>
                <a:cs typeface="Calibri"/>
              </a:rPr>
              <a:t>comm.Get_rank</a:t>
            </a:r>
            <a:r>
              <a:rPr lang="en-US" sz="2400">
                <a:ea typeface="Calibri"/>
                <a:cs typeface="Calibri"/>
              </a:rPr>
              <a:t>() : ID of the current process (master is rank 0).</a:t>
            </a:r>
          </a:p>
          <a:p>
            <a:r>
              <a:rPr lang="en-US" sz="2400" err="1">
                <a:ea typeface="Calibri"/>
                <a:cs typeface="Calibri"/>
              </a:rPr>
              <a:t>comm.Get_size</a:t>
            </a:r>
            <a:r>
              <a:rPr lang="en-US" sz="2400">
                <a:ea typeface="Calibri"/>
                <a:cs typeface="Calibri"/>
              </a:rPr>
              <a:t>(): total number of processes running (here, 2).</a:t>
            </a:r>
          </a:p>
          <a:p>
            <a:r>
              <a:rPr lang="en-US" sz="2400">
                <a:ea typeface="Calibri"/>
                <a:cs typeface="Calibri"/>
              </a:rPr>
              <a:t>Images are scanned and verified only on the master node (rank 0) to ensure data quality.</a:t>
            </a:r>
          </a:p>
          <a:p>
            <a:r>
              <a:rPr lang="en-US" sz="2400">
                <a:ea typeface="Calibri"/>
                <a:cs typeface="Calibri"/>
              </a:rPr>
              <a:t>Data shuffled randomly to avoid bias and then split into train (70%), validation (15%), and test (15%) sets.</a:t>
            </a:r>
          </a:p>
          <a:p>
            <a:r>
              <a:rPr lang="en-US" sz="2400">
                <a:ea typeface="+mn-lt"/>
                <a:cs typeface="+mn-lt"/>
              </a:rPr>
              <a:t>Training data divided into chunks equal to the number of processes.</a:t>
            </a:r>
            <a:endParaRPr lang="en-US" sz="2400">
              <a:ea typeface="Calibri"/>
              <a:cs typeface="Calibri"/>
            </a:endParaRPr>
          </a:p>
          <a:p>
            <a:r>
              <a:rPr lang="en-US" sz="2400" err="1">
                <a:latin typeface="Consolas"/>
              </a:rPr>
              <a:t>comm.scatter</a:t>
            </a:r>
            <a:r>
              <a:rPr lang="en-US" sz="2400">
                <a:latin typeface="Consolas"/>
              </a:rPr>
              <a:t>()</a:t>
            </a:r>
            <a:r>
              <a:rPr lang="en-US" sz="2400">
                <a:ea typeface="+mn-lt"/>
                <a:cs typeface="+mn-lt"/>
              </a:rPr>
              <a:t> sends each chunk to a process, so every process gets its local training data for parallel processing.</a:t>
            </a:r>
            <a:endParaRPr lang="en-US" sz="2400">
              <a:ea typeface="Calibri"/>
              <a:cs typeface="Calibri"/>
            </a:endParaRPr>
          </a:p>
          <a:p>
            <a:r>
              <a:rPr lang="en-US" sz="2400">
                <a:ea typeface="+mn-lt"/>
                <a:cs typeface="+mn-lt"/>
              </a:rPr>
              <a:t>Image augmentation (rotation, shifts, shear, zoom, flip, brightness) applied locally to batches.</a:t>
            </a:r>
            <a:endParaRPr lang="en-US" sz="2400">
              <a:ea typeface="Calibri"/>
              <a:cs typeface="Calibri"/>
            </a:endParaRPr>
          </a:p>
          <a:p>
            <a:r>
              <a:rPr lang="en-US" sz="2400">
                <a:ea typeface="+mn-lt"/>
                <a:cs typeface="+mn-lt"/>
              </a:rPr>
              <a:t>Validation and test sets remain on the master node and are not augmented.</a:t>
            </a:r>
            <a:endParaRPr lang="en-US" sz="2400">
              <a:ea typeface="Calibri"/>
              <a:cs typeface="Calibri"/>
            </a:endParaRPr>
          </a:p>
        </p:txBody>
      </p:sp>
    </p:spTree>
    <p:extLst>
      <p:ext uri="{BB962C8B-B14F-4D97-AF65-F5344CB8AC3E}">
        <p14:creationId xmlns:p14="http://schemas.microsoft.com/office/powerpoint/2010/main" val="64444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E3E2-3984-D9D7-86BE-66A596DD6A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618033C-E7F2-F625-E531-AA00CDCFBC7F}"/>
              </a:ext>
            </a:extLst>
          </p:cNvPr>
          <p:cNvSpPr txBox="1">
            <a:spLocks noGrp="1"/>
          </p:cNvSpPr>
          <p:nvPr>
            <p:ph type="title"/>
          </p:nvPr>
        </p:nvSpPr>
        <p:spPr>
          <a:xfrm>
            <a:off x="-1017889" y="2281314"/>
            <a:ext cx="8143875" cy="508473"/>
          </a:xfrm>
          <a:prstGeom prst="rect">
            <a:avLst/>
          </a:prstGeom>
        </p:spPr>
        <p:txBody>
          <a:bodyPr vert="horz" wrap="square" lIns="0" tIns="15875" rIns="0" bIns="0" rtlCol="0" anchor="t">
            <a:spAutoFit/>
          </a:bodyPr>
          <a:lstStyle/>
          <a:p>
            <a:pPr marL="12700" algn="ctr">
              <a:spcBef>
                <a:spcPts val="125"/>
              </a:spcBef>
            </a:pPr>
            <a:r>
              <a:rPr lang="en-US"/>
              <a:t>RESEARCH WORKFLOW</a:t>
            </a:r>
          </a:p>
        </p:txBody>
      </p:sp>
      <p:sp>
        <p:nvSpPr>
          <p:cNvPr id="4" name="object 4">
            <a:extLst>
              <a:ext uri="{FF2B5EF4-FFF2-40B4-BE49-F238E27FC236}">
                <a16:creationId xmlns:a16="http://schemas.microsoft.com/office/drawing/2014/main" id="{B08889B0-1946-9ED2-381A-A5359B75BE23}"/>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10</a:t>
            </a:fld>
            <a:endParaRPr spc="-25"/>
          </a:p>
        </p:txBody>
      </p:sp>
      <p:pic>
        <p:nvPicPr>
          <p:cNvPr id="8" name="Graphic 7">
            <a:extLst>
              <a:ext uri="{FF2B5EF4-FFF2-40B4-BE49-F238E27FC236}">
                <a16:creationId xmlns:a16="http://schemas.microsoft.com/office/drawing/2014/main" id="{0F54D721-EB4B-A621-95C1-FEAD633F70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6657" y="29026"/>
            <a:ext cx="5324304" cy="6255659"/>
          </a:xfrm>
          <a:prstGeom prst="rect">
            <a:avLst/>
          </a:prstGeom>
        </p:spPr>
      </p:pic>
    </p:spTree>
    <p:extLst>
      <p:ext uri="{BB962C8B-B14F-4D97-AF65-F5344CB8AC3E}">
        <p14:creationId xmlns:p14="http://schemas.microsoft.com/office/powerpoint/2010/main" val="4181471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5E525-E22D-31B0-44D8-0EA3303BE5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DB6919-2EDC-F870-350C-65E3BE4E605A}"/>
              </a:ext>
            </a:extLst>
          </p:cNvPr>
          <p:cNvSpPr txBox="1">
            <a:spLocks noGrp="1"/>
          </p:cNvSpPr>
          <p:nvPr>
            <p:ph type="title"/>
          </p:nvPr>
        </p:nvSpPr>
        <p:spPr>
          <a:xfrm>
            <a:off x="1760872" y="65"/>
            <a:ext cx="8143875" cy="517525"/>
          </a:xfrm>
          <a:prstGeom prst="rect">
            <a:avLst/>
          </a:prstGeom>
        </p:spPr>
        <p:txBody>
          <a:bodyPr vert="horz" wrap="square" lIns="0" tIns="15875" rIns="0" bIns="0" rtlCol="0" anchor="t">
            <a:spAutoFit/>
          </a:bodyPr>
          <a:lstStyle/>
          <a:p>
            <a:pPr marL="12700" algn="ctr">
              <a:spcBef>
                <a:spcPts val="125"/>
              </a:spcBef>
            </a:pPr>
            <a:r>
              <a:rPr lang="en-US"/>
              <a:t>MODEL ARCHITECTURE</a:t>
            </a:r>
          </a:p>
        </p:txBody>
      </p:sp>
      <p:sp>
        <p:nvSpPr>
          <p:cNvPr id="4" name="object 4">
            <a:extLst>
              <a:ext uri="{FF2B5EF4-FFF2-40B4-BE49-F238E27FC236}">
                <a16:creationId xmlns:a16="http://schemas.microsoft.com/office/drawing/2014/main" id="{EF50ED4F-3143-3AF5-B248-F459D3CBC2F8}"/>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11</a:t>
            </a:fld>
            <a:endParaRPr spc="-25"/>
          </a:p>
        </p:txBody>
      </p:sp>
      <p:pic>
        <p:nvPicPr>
          <p:cNvPr id="8" name="Graphic 7">
            <a:extLst>
              <a:ext uri="{FF2B5EF4-FFF2-40B4-BE49-F238E27FC236}">
                <a16:creationId xmlns:a16="http://schemas.microsoft.com/office/drawing/2014/main" id="{767E7D66-C4C6-F0E1-7F2B-C42BE61BB0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04756" y="502444"/>
            <a:ext cx="2994394" cy="5841205"/>
          </a:xfrm>
          <a:prstGeom prst="rect">
            <a:avLst/>
          </a:prstGeom>
        </p:spPr>
      </p:pic>
    </p:spTree>
    <p:extLst>
      <p:ext uri="{BB962C8B-B14F-4D97-AF65-F5344CB8AC3E}">
        <p14:creationId xmlns:p14="http://schemas.microsoft.com/office/powerpoint/2010/main" val="2120633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26CE5-5470-298B-0D0E-8A7BE9938B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0F9C418-1A76-D447-1887-0DD0685AF31D}"/>
              </a:ext>
            </a:extLst>
          </p:cNvPr>
          <p:cNvSpPr txBox="1">
            <a:spLocks noGrp="1"/>
          </p:cNvSpPr>
          <p:nvPr>
            <p:ph type="title"/>
          </p:nvPr>
        </p:nvSpPr>
        <p:spPr>
          <a:xfrm>
            <a:off x="1298229" y="449101"/>
            <a:ext cx="9940017" cy="1998624"/>
          </a:xfrm>
          <a:prstGeom prst="rect">
            <a:avLst/>
          </a:prstGeom>
        </p:spPr>
        <p:txBody>
          <a:bodyPr vert="horz" wrap="square" lIns="0" tIns="15875" rIns="0" bIns="0" rtlCol="0" anchor="t">
            <a:spAutoFit/>
          </a:bodyPr>
          <a:lstStyle/>
          <a:p>
            <a:pPr algn="ctr"/>
            <a:r>
              <a:rPr lang="en-US" b="1"/>
              <a:t>DATA PARALLELISM – FORWARD &amp; BACKWARD PASS (LOCAL GRADIENT COMPUTATION)</a:t>
            </a:r>
            <a:endParaRPr lang="en-US"/>
          </a:p>
          <a:p>
            <a:pPr marL="285750" indent="-285750" algn="ctr">
              <a:buFont typeface="Arial"/>
              <a:buChar char="•"/>
            </a:pPr>
            <a:endParaRPr lang="en-US"/>
          </a:p>
          <a:p>
            <a:pPr marL="12700" algn="ctr">
              <a:spcBef>
                <a:spcPts val="125"/>
              </a:spcBef>
            </a:pPr>
            <a:endParaRPr lang="en-US"/>
          </a:p>
        </p:txBody>
      </p:sp>
      <p:sp>
        <p:nvSpPr>
          <p:cNvPr id="4" name="object 4">
            <a:extLst>
              <a:ext uri="{FF2B5EF4-FFF2-40B4-BE49-F238E27FC236}">
                <a16:creationId xmlns:a16="http://schemas.microsoft.com/office/drawing/2014/main" id="{D25BE5B9-1AED-F0CC-FF74-F4BA7766E545}"/>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12</a:t>
            </a:fld>
            <a:endParaRPr spc="-25"/>
          </a:p>
        </p:txBody>
      </p:sp>
      <p:sp>
        <p:nvSpPr>
          <p:cNvPr id="3" name="TextBox 2">
            <a:extLst>
              <a:ext uri="{FF2B5EF4-FFF2-40B4-BE49-F238E27FC236}">
                <a16:creationId xmlns:a16="http://schemas.microsoft.com/office/drawing/2014/main" id="{A12967E0-DEAA-517D-4C8F-69EC474F6FD1}"/>
              </a:ext>
            </a:extLst>
          </p:cNvPr>
          <p:cNvSpPr txBox="1"/>
          <p:nvPr/>
        </p:nvSpPr>
        <p:spPr>
          <a:xfrm>
            <a:off x="258536" y="1714501"/>
            <a:ext cx="10980963"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Master node broadcasts initial weights to all processes using </a:t>
            </a:r>
            <a:r>
              <a:rPr lang="en-US" sz="2400" err="1"/>
              <a:t>comm.Bcast</a:t>
            </a:r>
            <a:r>
              <a:rPr lang="en-US" sz="2400"/>
              <a:t>() to synchronize models.</a:t>
            </a:r>
            <a:endParaRPr lang="en-US" sz="2400">
              <a:ea typeface="Calibri"/>
              <a:cs typeface="Calibri"/>
            </a:endParaRPr>
          </a:p>
          <a:p>
            <a:r>
              <a:rPr lang="en-US" sz="2400"/>
              <a:t>Each process performs a forward pass on its local batch and computes predicted outputs (logits).</a:t>
            </a:r>
            <a:endParaRPr lang="en-US" sz="2400">
              <a:ea typeface="Calibri"/>
              <a:cs typeface="Calibri"/>
            </a:endParaRPr>
          </a:p>
          <a:p>
            <a:r>
              <a:rPr lang="en-US" sz="2400"/>
              <a:t>Local loss calculated using categorical cross-entropy between predictions and true labels.</a:t>
            </a:r>
            <a:endParaRPr lang="en-US" sz="2400">
              <a:ea typeface="Calibri"/>
              <a:cs typeface="Calibri"/>
            </a:endParaRPr>
          </a:p>
          <a:p>
            <a:r>
              <a:rPr lang="en-US" sz="2400"/>
              <a:t>Backward pass performed using </a:t>
            </a:r>
            <a:r>
              <a:rPr lang="en-US" sz="2400" err="1"/>
              <a:t>tf.GradientTape</a:t>
            </a:r>
            <a:r>
              <a:rPr lang="en-US" sz="2400"/>
              <a:t>(), computing gradients of loss with respect to each model parameter.</a:t>
            </a:r>
            <a:endParaRPr lang="en-US" sz="2400">
              <a:ea typeface="Calibri"/>
              <a:cs typeface="Calibri"/>
            </a:endParaRPr>
          </a:p>
          <a:p>
            <a:r>
              <a:rPr lang="en-US" sz="2400"/>
              <a:t>Each process now holds local gradients for its batch.</a:t>
            </a:r>
            <a:endParaRPr lang="en-US" sz="2400">
              <a:ea typeface="Calibri"/>
              <a:cs typeface="Calibri"/>
            </a:endParaRPr>
          </a:p>
          <a:p>
            <a:r>
              <a:rPr lang="en-US" sz="2400" err="1"/>
              <a:t>comm.Barrier</a:t>
            </a:r>
            <a:r>
              <a:rPr lang="en-US" sz="2400"/>
              <a:t>() ensures all processes finish forward and backward passes before aggregation.</a:t>
            </a:r>
            <a:endParaRPr lang="en-US" sz="2400">
              <a:ea typeface="Calibri"/>
              <a:cs typeface="Calibri"/>
            </a:endParaRPr>
          </a:p>
          <a:p>
            <a:pPr algn="ctr"/>
            <a:endParaRPr lang="en-US" sz="2400">
              <a:ea typeface="Calibri"/>
              <a:cs typeface="Calibri"/>
            </a:endParaRPr>
          </a:p>
        </p:txBody>
      </p:sp>
    </p:spTree>
    <p:extLst>
      <p:ext uri="{BB962C8B-B14F-4D97-AF65-F5344CB8AC3E}">
        <p14:creationId xmlns:p14="http://schemas.microsoft.com/office/powerpoint/2010/main" val="3088130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BD1F2-8325-0F9F-6DB4-FBFA40C87B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3ABD51A-33B8-0D3E-7B73-A4C4BEF8174A}"/>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PROPOSED METHODOLOGY</a:t>
            </a:r>
          </a:p>
        </p:txBody>
      </p:sp>
      <p:sp>
        <p:nvSpPr>
          <p:cNvPr id="4" name="object 4">
            <a:extLst>
              <a:ext uri="{FF2B5EF4-FFF2-40B4-BE49-F238E27FC236}">
                <a16:creationId xmlns:a16="http://schemas.microsoft.com/office/drawing/2014/main" id="{10D4154A-2A5A-2847-3CF1-9DC6C49246CF}"/>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13</a:t>
            </a:fld>
            <a:endParaRPr spc="-25"/>
          </a:p>
        </p:txBody>
      </p:sp>
      <p:sp>
        <p:nvSpPr>
          <p:cNvPr id="5" name="TextBox 4">
            <a:extLst>
              <a:ext uri="{FF2B5EF4-FFF2-40B4-BE49-F238E27FC236}">
                <a16:creationId xmlns:a16="http://schemas.microsoft.com/office/drawing/2014/main" id="{C9095A27-5B5C-3569-EAEE-3AD4CE78EFED}"/>
              </a:ext>
            </a:extLst>
          </p:cNvPr>
          <p:cNvSpPr txBox="1"/>
          <p:nvPr/>
        </p:nvSpPr>
        <p:spPr>
          <a:xfrm>
            <a:off x="559215" y="1417977"/>
            <a:ext cx="10498665"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800" err="1">
                <a:ea typeface="Calibri"/>
                <a:cs typeface="Calibri"/>
              </a:rPr>
              <a:t>comm.Allreduce</a:t>
            </a:r>
            <a:r>
              <a:rPr lang="en-US" sz="2800">
                <a:ea typeface="Calibri"/>
                <a:cs typeface="Calibri"/>
              </a:rPr>
              <a:t>() sums gradients across all processes to obtain global gradients.</a:t>
            </a:r>
          </a:p>
          <a:p>
            <a:pPr marL="228600" indent="-228600">
              <a:buFont typeface=""/>
              <a:buChar char="•"/>
            </a:pPr>
            <a:r>
              <a:rPr lang="en-US" sz="2800">
                <a:ea typeface="Calibri"/>
                <a:cs typeface="Calibri"/>
              </a:rPr>
              <a:t>Averaged gradients computed by dividing summed gradients by the number of processes.</a:t>
            </a:r>
          </a:p>
          <a:p>
            <a:pPr marL="228600" indent="-228600">
              <a:buFont typeface=""/>
              <a:buChar char="•"/>
            </a:pPr>
            <a:r>
              <a:rPr lang="en-US" sz="2800">
                <a:ea typeface="Calibri"/>
                <a:cs typeface="Calibri"/>
              </a:rPr>
              <a:t>Each process updates its model weights synchronously using </a:t>
            </a:r>
            <a:r>
              <a:rPr lang="en-US" sz="2800" err="1">
                <a:ea typeface="Calibri"/>
                <a:cs typeface="Calibri"/>
              </a:rPr>
              <a:t>optimizer.apply_gradients</a:t>
            </a:r>
            <a:r>
              <a:rPr lang="en-US" sz="2800">
                <a:ea typeface="Calibri"/>
                <a:cs typeface="Calibri"/>
              </a:rPr>
              <a:t>().</a:t>
            </a:r>
          </a:p>
          <a:p>
            <a:pPr marL="228600" indent="-228600">
              <a:buFont typeface=""/>
              <a:buChar char="•"/>
            </a:pPr>
            <a:r>
              <a:rPr lang="en-US" sz="2800" err="1">
                <a:ea typeface="Calibri"/>
                <a:cs typeface="Calibri"/>
              </a:rPr>
              <a:t>comm.Barrier</a:t>
            </a:r>
            <a:r>
              <a:rPr lang="en-US" sz="2800">
                <a:ea typeface="Calibri"/>
                <a:cs typeface="Calibri"/>
              </a:rPr>
              <a:t>() ensures that all processes finish updating weights before moving to the next batch.</a:t>
            </a:r>
          </a:p>
          <a:p>
            <a:endParaRPr lang="en-US" sz="2800">
              <a:ea typeface="Calibri"/>
              <a:cs typeface="Calibri"/>
            </a:endParaRPr>
          </a:p>
          <a:p>
            <a:pPr algn="ctr"/>
            <a:endParaRPr lang="en-US" sz="2800">
              <a:ea typeface="Calibri"/>
              <a:cs typeface="Calibri"/>
            </a:endParaRPr>
          </a:p>
        </p:txBody>
      </p:sp>
    </p:spTree>
    <p:extLst>
      <p:ext uri="{BB962C8B-B14F-4D97-AF65-F5344CB8AC3E}">
        <p14:creationId xmlns:p14="http://schemas.microsoft.com/office/powerpoint/2010/main" val="42169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A4D76-33D2-BD44-D0E8-A350FF05AD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28BDC8-1D9F-9B2D-AF9E-CA9592052300}"/>
              </a:ext>
            </a:extLst>
          </p:cNvPr>
          <p:cNvSpPr txBox="1">
            <a:spLocks noGrp="1"/>
          </p:cNvSpPr>
          <p:nvPr>
            <p:ph type="title"/>
          </p:nvPr>
        </p:nvSpPr>
        <p:spPr>
          <a:xfrm>
            <a:off x="-334627" y="321534"/>
            <a:ext cx="8143875" cy="517525"/>
          </a:xfrm>
          <a:prstGeom prst="rect">
            <a:avLst/>
          </a:prstGeom>
        </p:spPr>
        <p:txBody>
          <a:bodyPr vert="horz" wrap="square" lIns="0" tIns="15875" rIns="0" bIns="0" rtlCol="0" anchor="t">
            <a:spAutoFit/>
          </a:bodyPr>
          <a:lstStyle/>
          <a:p>
            <a:pPr marL="12700" algn="ctr">
              <a:spcBef>
                <a:spcPts val="125"/>
              </a:spcBef>
            </a:pPr>
            <a:r>
              <a:rPr lang="en-US"/>
              <a:t>PROPOSED METHODOLOGY</a:t>
            </a:r>
          </a:p>
        </p:txBody>
      </p:sp>
      <p:sp>
        <p:nvSpPr>
          <p:cNvPr id="4" name="object 4">
            <a:extLst>
              <a:ext uri="{FF2B5EF4-FFF2-40B4-BE49-F238E27FC236}">
                <a16:creationId xmlns:a16="http://schemas.microsoft.com/office/drawing/2014/main" id="{E39FF5A2-E5A9-B46D-598B-08AE9DCE5E12}"/>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14</a:t>
            </a:fld>
            <a:endParaRPr spc="-25"/>
          </a:p>
        </p:txBody>
      </p:sp>
      <p:sp>
        <p:nvSpPr>
          <p:cNvPr id="5" name="TextBox 4">
            <a:extLst>
              <a:ext uri="{FF2B5EF4-FFF2-40B4-BE49-F238E27FC236}">
                <a16:creationId xmlns:a16="http://schemas.microsoft.com/office/drawing/2014/main" id="{C7C65A2C-440F-A596-5E3F-1B7C660B2333}"/>
              </a:ext>
            </a:extLst>
          </p:cNvPr>
          <p:cNvSpPr txBox="1"/>
          <p:nvPr/>
        </p:nvSpPr>
        <p:spPr>
          <a:xfrm>
            <a:off x="702091" y="1397566"/>
            <a:ext cx="570894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sz="2800">
                <a:ea typeface="Calibri"/>
                <a:cs typeface="Calibri"/>
              </a:rPr>
              <a:t>Steps per epoch determined via </a:t>
            </a:r>
            <a:r>
              <a:rPr lang="en-US" sz="2800" err="1">
                <a:ea typeface="Calibri"/>
                <a:cs typeface="Calibri"/>
              </a:rPr>
              <a:t>comm.allreduce</a:t>
            </a:r>
            <a:r>
              <a:rPr lang="en-US" sz="2800">
                <a:ea typeface="Calibri"/>
                <a:cs typeface="Calibri"/>
              </a:rPr>
              <a:t>() to find minimum batches across ranks, avoiding early termination of any process.</a:t>
            </a:r>
          </a:p>
          <a:p>
            <a:pPr marL="228600" indent="-228600">
              <a:buFont typeface="Arial"/>
              <a:buChar char="•"/>
            </a:pPr>
            <a:r>
              <a:rPr lang="en-US" sz="2800">
                <a:ea typeface="Calibri"/>
                <a:cs typeface="Calibri"/>
              </a:rPr>
              <a:t>Process repeats for all batches and epochs.</a:t>
            </a:r>
          </a:p>
          <a:p>
            <a:endParaRPr lang="en-US" sz="2800">
              <a:ea typeface="Calibri"/>
              <a:cs typeface="Calibri"/>
            </a:endParaRPr>
          </a:p>
          <a:p>
            <a:pPr marL="228600" indent="-228600">
              <a:buFont typeface=""/>
              <a:buChar char="•"/>
            </a:pPr>
            <a:endParaRPr lang="en-US" sz="2800">
              <a:ea typeface="Calibri"/>
              <a:cs typeface="Calibri"/>
            </a:endParaRPr>
          </a:p>
        </p:txBody>
      </p:sp>
      <p:pic>
        <p:nvPicPr>
          <p:cNvPr id="6" name="Graphic 5">
            <a:extLst>
              <a:ext uri="{FF2B5EF4-FFF2-40B4-BE49-F238E27FC236}">
                <a16:creationId xmlns:a16="http://schemas.microsoft.com/office/drawing/2014/main" id="{DBD781EA-B1C1-31EB-3652-D7010E96ED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06211" y="2381"/>
            <a:ext cx="2568422" cy="6353176"/>
          </a:xfrm>
          <a:prstGeom prst="rect">
            <a:avLst/>
          </a:prstGeom>
        </p:spPr>
      </p:pic>
    </p:spTree>
    <p:extLst>
      <p:ext uri="{BB962C8B-B14F-4D97-AF65-F5344CB8AC3E}">
        <p14:creationId xmlns:p14="http://schemas.microsoft.com/office/powerpoint/2010/main" val="119435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D2BA5-BF42-1F7D-47BB-DDB399E261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9A3A7C4-5F0C-7B56-1231-369BE5AA9E1A}"/>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15</a:t>
            </a:fld>
            <a:endParaRPr spc="-25"/>
          </a:p>
        </p:txBody>
      </p:sp>
      <p:sp>
        <p:nvSpPr>
          <p:cNvPr id="3" name="TextBox 2">
            <a:extLst>
              <a:ext uri="{FF2B5EF4-FFF2-40B4-BE49-F238E27FC236}">
                <a16:creationId xmlns:a16="http://schemas.microsoft.com/office/drawing/2014/main" id="{BB7863FF-C2A6-F8D5-92BF-A882821A1DFC}"/>
              </a:ext>
            </a:extLst>
          </p:cNvPr>
          <p:cNvSpPr txBox="1"/>
          <p:nvPr/>
        </p:nvSpPr>
        <p:spPr>
          <a:xfrm>
            <a:off x="569988" y="1138464"/>
            <a:ext cx="11085285" cy="513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ptos Display"/>
                <a:ea typeface="Calibri"/>
                <a:cs typeface="Calibri"/>
              </a:rPr>
              <a:t>Both parallel and non-parallel training files were run in the virtual environment.</a:t>
            </a:r>
            <a:endParaRPr lang="en-US">
              <a:latin typeface="Aptos Display"/>
            </a:endParaRPr>
          </a:p>
          <a:p>
            <a:r>
              <a:rPr lang="en-US" sz="2400">
                <a:latin typeface="Aptos Display"/>
                <a:ea typeface="+mn-lt"/>
                <a:cs typeface="+mn-lt"/>
              </a:rPr>
              <a:t>python -m </a:t>
            </a:r>
            <a:r>
              <a:rPr lang="en-US" sz="2400" err="1">
                <a:latin typeface="Aptos Display"/>
                <a:ea typeface="+mn-lt"/>
                <a:cs typeface="+mn-lt"/>
              </a:rPr>
              <a:t>venv</a:t>
            </a:r>
            <a:r>
              <a:rPr lang="en-US" sz="2400">
                <a:latin typeface="Aptos Display"/>
                <a:ea typeface="+mn-lt"/>
                <a:cs typeface="+mn-lt"/>
              </a:rPr>
              <a:t> </a:t>
            </a:r>
            <a:r>
              <a:rPr lang="en-US" sz="2400" err="1">
                <a:latin typeface="Aptos Display"/>
                <a:ea typeface="+mn-lt"/>
                <a:cs typeface="+mn-lt"/>
              </a:rPr>
              <a:t>venv</a:t>
            </a:r>
            <a:r>
              <a:rPr lang="en-US" sz="2400">
                <a:latin typeface="Aptos Display"/>
                <a:ea typeface="+mn-lt"/>
                <a:cs typeface="+mn-lt"/>
              </a:rPr>
              <a:t>  </a:t>
            </a:r>
            <a:endParaRPr lang="en-US" sz="2400">
              <a:latin typeface="Aptos Display"/>
              <a:ea typeface="Calibri"/>
              <a:cs typeface="Calibri"/>
            </a:endParaRPr>
          </a:p>
          <a:p>
            <a:r>
              <a:rPr lang="en-US" sz="2400" err="1">
                <a:latin typeface="Aptos Display"/>
                <a:ea typeface="+mn-lt"/>
                <a:cs typeface="+mn-lt"/>
              </a:rPr>
              <a:t>venv</a:t>
            </a:r>
            <a:r>
              <a:rPr lang="en-US" sz="2400">
                <a:latin typeface="Aptos Display"/>
                <a:ea typeface="+mn-lt"/>
                <a:cs typeface="+mn-lt"/>
              </a:rPr>
              <a:t>\Scripts\activate</a:t>
            </a:r>
            <a:endParaRPr lang="en-US" sz="2400">
              <a:latin typeface="Aptos Display"/>
              <a:ea typeface="Calibri"/>
              <a:cs typeface="Calibri"/>
            </a:endParaRPr>
          </a:p>
          <a:p>
            <a:endParaRPr lang="en-US" sz="2400">
              <a:latin typeface="Aptos Display"/>
              <a:ea typeface="Calibri"/>
              <a:cs typeface="Calibri"/>
            </a:endParaRPr>
          </a:p>
          <a:p>
            <a:r>
              <a:rPr lang="en-US" sz="2400">
                <a:latin typeface="Aptos Display"/>
                <a:ea typeface="+mn-lt"/>
                <a:cs typeface="+mn-lt"/>
              </a:rPr>
              <a:t>The trained model (.h5) was converted to JSON format and linked to </a:t>
            </a:r>
            <a:r>
              <a:rPr lang="en-US" sz="2400">
                <a:latin typeface="Aptos Display"/>
                <a:ea typeface="Calibri"/>
                <a:cs typeface="Calibri"/>
              </a:rPr>
              <a:t>index.html</a:t>
            </a:r>
            <a:r>
              <a:rPr lang="en-US" sz="2400">
                <a:latin typeface="Aptos Display"/>
                <a:ea typeface="+mn-lt"/>
                <a:cs typeface="+mn-lt"/>
              </a:rPr>
              <a:t> for image prediction into 4 classes.</a:t>
            </a:r>
            <a:endParaRPr lang="en-US" sz="2400">
              <a:latin typeface="Aptos Display"/>
              <a:ea typeface="Calibri"/>
              <a:cs typeface="Calibri"/>
            </a:endParaRPr>
          </a:p>
          <a:p>
            <a:pPr marL="285750" indent="-285750">
              <a:buFont typeface="Arial"/>
              <a:buChar char="•"/>
            </a:pPr>
            <a:endParaRPr lang="en-US" sz="1600">
              <a:latin typeface="Aptos Display"/>
              <a:ea typeface="Calibri"/>
              <a:cs typeface="Calibri"/>
            </a:endParaRPr>
          </a:p>
          <a:p>
            <a:r>
              <a:rPr lang="en-US" sz="2400">
                <a:latin typeface="Aptos Display"/>
                <a:ea typeface="+mn-lt"/>
                <a:cs typeface="+mn-lt"/>
              </a:rPr>
              <a:t>A Docker image was created using </a:t>
            </a:r>
            <a:r>
              <a:rPr lang="en-US" sz="2400" err="1">
                <a:latin typeface="Aptos Display"/>
                <a:ea typeface="+mn-lt"/>
                <a:cs typeface="+mn-lt"/>
              </a:rPr>
              <a:t>Dockerfile</a:t>
            </a:r>
            <a:r>
              <a:rPr lang="en-US" sz="2400">
                <a:latin typeface="Aptos Display"/>
                <a:ea typeface="+mn-lt"/>
                <a:cs typeface="+mn-lt"/>
              </a:rPr>
              <a:t> based on Nginx. The image was built and tagged as </a:t>
            </a:r>
            <a:r>
              <a:rPr lang="en-US" sz="2400">
                <a:latin typeface="Aptos Display"/>
                <a:ea typeface="Calibri"/>
                <a:cs typeface="Calibri"/>
              </a:rPr>
              <a:t>first</a:t>
            </a:r>
            <a:r>
              <a:rPr lang="en-US" sz="2400">
                <a:latin typeface="Aptos Display"/>
                <a:ea typeface="+mn-lt"/>
                <a:cs typeface="+mn-lt"/>
              </a:rPr>
              <a:t> using:</a:t>
            </a:r>
            <a:r>
              <a:rPr lang="en-US" sz="2400">
                <a:latin typeface="Aptos Display"/>
                <a:ea typeface="Calibri"/>
                <a:cs typeface="Calibri"/>
              </a:rPr>
              <a:t> docker build -t second .
</a:t>
            </a:r>
          </a:p>
          <a:p>
            <a:r>
              <a:rPr lang="en-US" sz="2400">
                <a:latin typeface="Aptos Display"/>
                <a:ea typeface="+mn-lt"/>
                <a:cs typeface="+mn-lt"/>
              </a:rPr>
              <a:t>The container was run locally and accessed via browser at:</a:t>
            </a:r>
            <a:endParaRPr lang="en-US" sz="2400">
              <a:latin typeface="Aptos Display"/>
              <a:ea typeface="Calibri"/>
              <a:cs typeface="Calibri"/>
            </a:endParaRPr>
          </a:p>
          <a:p>
            <a:r>
              <a:rPr lang="en-US" sz="2400">
                <a:latin typeface="Aptos Display"/>
                <a:ea typeface="Calibri"/>
                <a:cs typeface="Calibri"/>
              </a:rPr>
              <a:t>docker run -d -p 8085:80 second  
</a:t>
            </a:r>
            <a:r>
              <a:rPr lang="en-US" sz="2400">
                <a:latin typeface="Aptos Display"/>
                <a:ea typeface="Calibri"/>
                <a:cs typeface="Calibri"/>
                <a:hlinkClick r:id="rId2"/>
              </a:rPr>
              <a:t>http://localhost:8085/index.html</a:t>
            </a:r>
            <a:endParaRPr lang="en-US" sz="2400">
              <a:latin typeface="Aptos Display"/>
              <a:ea typeface="Calibri"/>
              <a:cs typeface="Calibri"/>
            </a:endParaRPr>
          </a:p>
          <a:p>
            <a:endParaRPr lang="en-US" sz="2400">
              <a:latin typeface="Aptos Display"/>
              <a:ea typeface="Calibri"/>
              <a:cs typeface="Calibri"/>
            </a:endParaRPr>
          </a:p>
        </p:txBody>
      </p:sp>
      <p:sp>
        <p:nvSpPr>
          <p:cNvPr id="6" name="Title 5">
            <a:extLst>
              <a:ext uri="{FF2B5EF4-FFF2-40B4-BE49-F238E27FC236}">
                <a16:creationId xmlns:a16="http://schemas.microsoft.com/office/drawing/2014/main" id="{7F49AA8C-321E-F2EF-DD99-699FB545816F}"/>
              </a:ext>
            </a:extLst>
          </p:cNvPr>
          <p:cNvSpPr>
            <a:spLocks noGrp="1"/>
          </p:cNvSpPr>
          <p:nvPr>
            <p:ph type="title"/>
          </p:nvPr>
        </p:nvSpPr>
        <p:spPr>
          <a:xfrm>
            <a:off x="3686084" y="587873"/>
            <a:ext cx="8143875" cy="492443"/>
          </a:xfrm>
        </p:spPr>
        <p:txBody>
          <a:bodyPr wrap="square" lIns="0" tIns="0" rIns="0" bIns="0" anchor="t">
            <a:spAutoFit/>
          </a:bodyPr>
          <a:lstStyle/>
          <a:p>
            <a:r>
              <a:rPr lang="en-US"/>
              <a:t>DOCKER DEPLOYMENT</a:t>
            </a:r>
          </a:p>
        </p:txBody>
      </p:sp>
    </p:spTree>
    <p:extLst>
      <p:ext uri="{BB962C8B-B14F-4D97-AF65-F5344CB8AC3E}">
        <p14:creationId xmlns:p14="http://schemas.microsoft.com/office/powerpoint/2010/main" val="278188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33D24-7158-87C3-E779-5DB6FA5EEDF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E4FE2A-BC7A-9FA2-08DD-FE90AF093111}"/>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(AWS-ECR)</a:t>
            </a:r>
          </a:p>
        </p:txBody>
      </p:sp>
      <p:sp>
        <p:nvSpPr>
          <p:cNvPr id="4" name="object 4">
            <a:extLst>
              <a:ext uri="{FF2B5EF4-FFF2-40B4-BE49-F238E27FC236}">
                <a16:creationId xmlns:a16="http://schemas.microsoft.com/office/drawing/2014/main" id="{03C2E428-E007-04F1-9648-91F195F60971}"/>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16</a:t>
            </a:fld>
            <a:endParaRPr spc="-25"/>
          </a:p>
        </p:txBody>
      </p:sp>
      <p:sp>
        <p:nvSpPr>
          <p:cNvPr id="5" name="TextBox 4">
            <a:extLst>
              <a:ext uri="{FF2B5EF4-FFF2-40B4-BE49-F238E27FC236}">
                <a16:creationId xmlns:a16="http://schemas.microsoft.com/office/drawing/2014/main" id="{60C46F55-FCBD-D29F-9E10-549DF4587B0F}"/>
              </a:ext>
            </a:extLst>
          </p:cNvPr>
          <p:cNvSpPr txBox="1"/>
          <p:nvPr/>
        </p:nvSpPr>
        <p:spPr>
          <a:xfrm>
            <a:off x="414120" y="962769"/>
            <a:ext cx="11489560"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The Docker image is first saved locally as a </a:t>
            </a:r>
            <a:r>
              <a:rPr lang="en-US" sz="2400">
                <a:latin typeface="Consolas"/>
                <a:ea typeface="Calibri"/>
                <a:cs typeface="Calibri"/>
              </a:rPr>
              <a:t>.tar</a:t>
            </a:r>
            <a:r>
              <a:rPr lang="en-US" sz="2400">
                <a:ea typeface="+mn-lt"/>
                <a:cs typeface="+mn-lt"/>
              </a:rPr>
              <a:t> file:</a:t>
            </a:r>
            <a:endParaRPr lang="en-US">
              <a:ea typeface="Calibri"/>
              <a:cs typeface="Calibri"/>
            </a:endParaRPr>
          </a:p>
          <a:p>
            <a:r>
              <a:rPr lang="en-US" sz="2400">
                <a:ea typeface="+mn-lt"/>
                <a:cs typeface="+mn-lt"/>
              </a:rPr>
              <a:t>docker save -o second.tar </a:t>
            </a:r>
            <a:r>
              <a:rPr lang="en-US" sz="2400" err="1">
                <a:ea typeface="+mn-lt"/>
                <a:cs typeface="+mn-lt"/>
              </a:rPr>
              <a:t>second:latest</a:t>
            </a:r>
            <a:endParaRPr lang="en-US">
              <a:ea typeface="Calibri"/>
              <a:cs typeface="Calibri"/>
            </a:endParaRPr>
          </a:p>
          <a:p>
            <a:endParaRPr lang="en-US" sz="2400">
              <a:ea typeface="Calibri"/>
              <a:cs typeface="Calibri"/>
            </a:endParaRPr>
          </a:p>
          <a:p>
            <a:r>
              <a:rPr lang="en-US" sz="2400">
                <a:ea typeface="+mn-lt"/>
                <a:cs typeface="+mn-lt"/>
              </a:rPr>
              <a:t>In AWS Cloud Shell, the image is uploaded and loaded using:</a:t>
            </a:r>
            <a:endParaRPr lang="en-US">
              <a:ea typeface="Calibri"/>
              <a:cs typeface="Calibri"/>
            </a:endParaRPr>
          </a:p>
          <a:p>
            <a:r>
              <a:rPr lang="en-US" sz="2400">
                <a:ea typeface="+mn-lt"/>
                <a:cs typeface="+mn-lt"/>
              </a:rPr>
              <a:t>docker load -</a:t>
            </a:r>
            <a:r>
              <a:rPr lang="en-US" sz="2400" err="1">
                <a:ea typeface="+mn-lt"/>
                <a:cs typeface="+mn-lt"/>
              </a:rPr>
              <a:t>i</a:t>
            </a:r>
            <a:r>
              <a:rPr lang="en-US" sz="2400">
                <a:ea typeface="+mn-lt"/>
                <a:cs typeface="+mn-lt"/>
              </a:rPr>
              <a:t> second.tar</a:t>
            </a:r>
            <a:endParaRPr lang="en-US">
              <a:ea typeface="Calibri"/>
              <a:cs typeface="Calibri"/>
            </a:endParaRPr>
          </a:p>
          <a:p>
            <a:endParaRPr lang="en-US" sz="2400">
              <a:ea typeface="Calibri"/>
              <a:cs typeface="Calibri"/>
            </a:endParaRPr>
          </a:p>
          <a:p>
            <a:r>
              <a:rPr lang="en-US" sz="2400">
                <a:ea typeface="+mn-lt"/>
                <a:cs typeface="+mn-lt"/>
              </a:rPr>
              <a:t>AWS ECR (Elastic Container Registry) : a secure, fully managed Docker image storage service is used to host and manage container images. We login to ECR repository.</a:t>
            </a:r>
            <a:endParaRPr lang="en-US">
              <a:ea typeface="Calibri"/>
              <a:cs typeface="Calibri"/>
            </a:endParaRPr>
          </a:p>
          <a:p>
            <a:r>
              <a:rPr lang="en-US" sz="2400" err="1">
                <a:ea typeface="+mn-lt"/>
                <a:cs typeface="+mn-lt"/>
              </a:rPr>
              <a:t>aws</a:t>
            </a:r>
            <a:r>
              <a:rPr lang="en-US" sz="2400">
                <a:ea typeface="+mn-lt"/>
                <a:cs typeface="+mn-lt"/>
              </a:rPr>
              <a:t> </a:t>
            </a:r>
            <a:r>
              <a:rPr lang="en-US" sz="2400" err="1">
                <a:ea typeface="+mn-lt"/>
                <a:cs typeface="+mn-lt"/>
              </a:rPr>
              <a:t>ecr</a:t>
            </a:r>
            <a:r>
              <a:rPr lang="en-US" sz="2400">
                <a:ea typeface="+mn-lt"/>
                <a:cs typeface="+mn-lt"/>
              </a:rPr>
              <a:t> get-login-password --region ap-south-1 | docker login --username AWS --password-stdin 070785843125.dkr.ecr.ap-south-1.amazonaws.com</a:t>
            </a:r>
            <a:endParaRPr lang="en-US">
              <a:ea typeface="Calibri"/>
              <a:cs typeface="Calibri"/>
            </a:endParaRPr>
          </a:p>
          <a:p>
            <a:endParaRPr lang="en-US" sz="2400">
              <a:ea typeface="Calibri"/>
              <a:cs typeface="Calibri"/>
            </a:endParaRPr>
          </a:p>
          <a:p>
            <a:r>
              <a:rPr lang="en-US" sz="2400">
                <a:ea typeface="+mn-lt"/>
                <a:cs typeface="+mn-lt"/>
              </a:rPr>
              <a:t>The image is tagged and pushed:</a:t>
            </a:r>
            <a:endParaRPr lang="en-US">
              <a:ea typeface="Calibri"/>
              <a:cs typeface="Calibri"/>
            </a:endParaRPr>
          </a:p>
          <a:p>
            <a:r>
              <a:rPr lang="en-US" sz="2400">
                <a:ea typeface="+mn-lt"/>
                <a:cs typeface="+mn-lt"/>
              </a:rPr>
              <a:t>docker tag </a:t>
            </a:r>
            <a:r>
              <a:rPr lang="en-US" sz="2400" err="1">
                <a:ea typeface="+mn-lt"/>
                <a:cs typeface="+mn-lt"/>
              </a:rPr>
              <a:t>second:latest</a:t>
            </a:r>
            <a:r>
              <a:rPr lang="en-US" sz="2400">
                <a:ea typeface="+mn-lt"/>
                <a:cs typeface="+mn-lt"/>
              </a:rPr>
              <a:t> 070785843125.dkr.ecr.ap-south-1.amazonaws.com/repo1:latest</a:t>
            </a:r>
            <a:endParaRPr lang="en-US">
              <a:ea typeface="Calibri"/>
              <a:cs typeface="Calibri"/>
            </a:endParaRPr>
          </a:p>
          <a:p>
            <a:r>
              <a:rPr lang="en-US" sz="2400">
                <a:ea typeface="+mn-lt"/>
                <a:cs typeface="+mn-lt"/>
              </a:rPr>
              <a:t>docker push 070785843125.dkr.ecr.ap-south-1.amazonaws.com/repo1:latest</a:t>
            </a:r>
            <a:endParaRPr lang="en-US">
              <a:ea typeface="Calibri"/>
              <a:cs typeface="Calibri"/>
            </a:endParaRPr>
          </a:p>
          <a:p>
            <a:endParaRPr lang="en-US" sz="2400">
              <a:ea typeface="Calibri"/>
              <a:cs typeface="Calibri"/>
            </a:endParaRPr>
          </a:p>
        </p:txBody>
      </p:sp>
    </p:spTree>
    <p:extLst>
      <p:ext uri="{BB962C8B-B14F-4D97-AF65-F5344CB8AC3E}">
        <p14:creationId xmlns:p14="http://schemas.microsoft.com/office/powerpoint/2010/main" val="3639082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94145-4E3F-7332-892C-1A2CD986A5A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822EE94-2053-FD0A-C21E-F617B4D40772}"/>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0240049D-3437-0672-B09C-9DA7DCD610B2}"/>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17</a:t>
            </a:fld>
            <a:endParaRPr spc="-25"/>
          </a:p>
        </p:txBody>
      </p:sp>
      <p:sp>
        <p:nvSpPr>
          <p:cNvPr id="5" name="TextBox 4">
            <a:extLst>
              <a:ext uri="{FF2B5EF4-FFF2-40B4-BE49-F238E27FC236}">
                <a16:creationId xmlns:a16="http://schemas.microsoft.com/office/drawing/2014/main" id="{6789C738-0401-5E04-77B4-34423B1ECBEC}"/>
              </a:ext>
            </a:extLst>
          </p:cNvPr>
          <p:cNvSpPr txBox="1"/>
          <p:nvPr/>
        </p:nvSpPr>
        <p:spPr>
          <a:xfrm>
            <a:off x="414120" y="962769"/>
            <a:ext cx="1148956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CLUSTER CREATION:</a:t>
            </a:r>
          </a:p>
          <a:p>
            <a:endParaRPr lang="en-US" sz="1500" b="1" i="1">
              <a:solidFill>
                <a:srgbClr val="242424"/>
              </a:solidFill>
              <a:ea typeface="Calibri"/>
              <a:cs typeface="Calibri"/>
            </a:endParaRPr>
          </a:p>
          <a:p>
            <a:r>
              <a:rPr lang="en-US" sz="2400">
                <a:solidFill>
                  <a:srgbClr val="242424"/>
                </a:solidFill>
                <a:latin typeface="Aptos Display"/>
                <a:ea typeface="Calibri"/>
                <a:cs typeface="Calibri"/>
              </a:rPr>
              <a:t>On the ECS dashboard, click on Create cluster</a:t>
            </a:r>
          </a:p>
          <a:p>
            <a:endParaRPr lang="en-US" sz="2000">
              <a:solidFill>
                <a:srgbClr val="242424"/>
              </a:solidFill>
              <a:ea typeface="Calibri"/>
              <a:cs typeface="Calibri"/>
            </a:endParaRPr>
          </a:p>
          <a:p>
            <a:endParaRPr lang="en-US" sz="1500" b="1" i="1">
              <a:solidFill>
                <a:srgbClr val="242424"/>
              </a:solidFill>
              <a:ea typeface="Calibri"/>
              <a:cs typeface="Calibri"/>
            </a:endParaRPr>
          </a:p>
        </p:txBody>
      </p:sp>
      <p:pic>
        <p:nvPicPr>
          <p:cNvPr id="3" name="Picture 2" descr="A screenshot of a container service&#10;&#10;AI-generated content may be incorrect.">
            <a:extLst>
              <a:ext uri="{FF2B5EF4-FFF2-40B4-BE49-F238E27FC236}">
                <a16:creationId xmlns:a16="http://schemas.microsoft.com/office/drawing/2014/main" id="{EFE0E61D-8F16-39FC-DDB7-2EFA5FE9BE4A}"/>
              </a:ext>
            </a:extLst>
          </p:cNvPr>
          <p:cNvPicPr>
            <a:picLocks noChangeAspect="1"/>
          </p:cNvPicPr>
          <p:nvPr/>
        </p:nvPicPr>
        <p:blipFill>
          <a:blip r:embed="rId2"/>
          <a:stretch>
            <a:fillRect/>
          </a:stretch>
        </p:blipFill>
        <p:spPr>
          <a:xfrm>
            <a:off x="412978" y="2070327"/>
            <a:ext cx="10182225" cy="2717347"/>
          </a:xfrm>
          <a:prstGeom prst="rect">
            <a:avLst/>
          </a:prstGeom>
        </p:spPr>
      </p:pic>
    </p:spTree>
    <p:extLst>
      <p:ext uri="{BB962C8B-B14F-4D97-AF65-F5344CB8AC3E}">
        <p14:creationId xmlns:p14="http://schemas.microsoft.com/office/powerpoint/2010/main" val="1147675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B964-68A7-D778-386F-9D13E97D385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241A2AF-4BD1-07D9-CF59-F3D002D79765}"/>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38F01E59-EB13-60BD-F5D2-DE89CF7FD1F7}"/>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18</a:t>
            </a:fld>
            <a:endParaRPr spc="-25"/>
          </a:p>
        </p:txBody>
      </p:sp>
      <p:sp>
        <p:nvSpPr>
          <p:cNvPr id="5" name="TextBox 4">
            <a:extLst>
              <a:ext uri="{FF2B5EF4-FFF2-40B4-BE49-F238E27FC236}">
                <a16:creationId xmlns:a16="http://schemas.microsoft.com/office/drawing/2014/main" id="{ED6478E1-21A2-A5C7-3F4A-67A69FE86DE2}"/>
              </a:ext>
            </a:extLst>
          </p:cNvPr>
          <p:cNvSpPr txBox="1"/>
          <p:nvPr/>
        </p:nvSpPr>
        <p:spPr>
          <a:xfrm>
            <a:off x="414120" y="962769"/>
            <a:ext cx="1148956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CLUSTER CREATION:</a:t>
            </a:r>
          </a:p>
          <a:p>
            <a:endParaRPr lang="en-US" sz="1500" b="1" i="1">
              <a:solidFill>
                <a:srgbClr val="242424"/>
              </a:solidFill>
              <a:ea typeface="Calibri"/>
              <a:cs typeface="Calibri"/>
            </a:endParaRPr>
          </a:p>
          <a:p>
            <a:r>
              <a:rPr lang="en-US" sz="2400">
                <a:solidFill>
                  <a:srgbClr val="242424"/>
                </a:solidFill>
                <a:latin typeface="Aptos Display"/>
                <a:ea typeface="+mn-lt"/>
                <a:cs typeface="+mn-lt"/>
              </a:rPr>
              <a:t>Under the Cluster configuration, enter the </a:t>
            </a:r>
            <a:r>
              <a:rPr lang="en-US" sz="2400">
                <a:solidFill>
                  <a:srgbClr val="242424"/>
                </a:solidFill>
                <a:latin typeface="Aptos Display"/>
                <a:ea typeface="Calibri"/>
                <a:cs typeface="Calibri"/>
              </a:rPr>
              <a:t>Cluster name</a:t>
            </a:r>
            <a:endParaRPr lang="en-US" sz="2400">
              <a:latin typeface="Aptos Display"/>
              <a:ea typeface="Calibri"/>
              <a:cs typeface="Calibri"/>
            </a:endParaRPr>
          </a:p>
          <a:p>
            <a:br>
              <a:rPr lang="en-US"/>
            </a:br>
            <a:endParaRPr lang="en-US"/>
          </a:p>
          <a:p>
            <a:endParaRPr lang="en-US" sz="2000">
              <a:solidFill>
                <a:srgbClr val="242424"/>
              </a:solidFill>
              <a:latin typeface="Aptos Display"/>
              <a:ea typeface="Calibri"/>
              <a:cs typeface="Calibri"/>
            </a:endParaRPr>
          </a:p>
          <a:p>
            <a:endParaRPr lang="en-US" sz="2000">
              <a:solidFill>
                <a:srgbClr val="242424"/>
              </a:solidFill>
              <a:ea typeface="Calibri"/>
              <a:cs typeface="Calibri"/>
            </a:endParaRPr>
          </a:p>
          <a:p>
            <a:endParaRPr lang="en-US" sz="1500" b="1" i="1">
              <a:solidFill>
                <a:srgbClr val="242424"/>
              </a:solidFill>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D780804F-18DD-1035-A187-1964FDF30DC0}"/>
              </a:ext>
            </a:extLst>
          </p:cNvPr>
          <p:cNvPicPr>
            <a:picLocks noChangeAspect="1"/>
          </p:cNvPicPr>
          <p:nvPr/>
        </p:nvPicPr>
        <p:blipFill>
          <a:blip r:embed="rId2"/>
          <a:stretch>
            <a:fillRect/>
          </a:stretch>
        </p:blipFill>
        <p:spPr>
          <a:xfrm>
            <a:off x="569459" y="2199594"/>
            <a:ext cx="8562975" cy="3928383"/>
          </a:xfrm>
          <a:prstGeom prst="rect">
            <a:avLst/>
          </a:prstGeom>
        </p:spPr>
      </p:pic>
    </p:spTree>
    <p:extLst>
      <p:ext uri="{BB962C8B-B14F-4D97-AF65-F5344CB8AC3E}">
        <p14:creationId xmlns:p14="http://schemas.microsoft.com/office/powerpoint/2010/main" val="3949808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78AE7-E5DC-7FDD-113D-A83ED08457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F9C304C-9C71-9B88-284A-0935DDD91D72}"/>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9E243721-BE4D-E118-68D9-6A19CC15D191}"/>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19</a:t>
            </a:fld>
            <a:endParaRPr spc="-25"/>
          </a:p>
        </p:txBody>
      </p:sp>
      <p:sp>
        <p:nvSpPr>
          <p:cNvPr id="5" name="TextBox 4">
            <a:extLst>
              <a:ext uri="{FF2B5EF4-FFF2-40B4-BE49-F238E27FC236}">
                <a16:creationId xmlns:a16="http://schemas.microsoft.com/office/drawing/2014/main" id="{F6297312-2A62-DB4A-22AC-2A87C5566B13}"/>
              </a:ext>
            </a:extLst>
          </p:cNvPr>
          <p:cNvSpPr txBox="1"/>
          <p:nvPr/>
        </p:nvSpPr>
        <p:spPr>
          <a:xfrm>
            <a:off x="414120" y="962769"/>
            <a:ext cx="11489560" cy="40164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CLUSTER CREATION:</a:t>
            </a:r>
          </a:p>
          <a:p>
            <a:r>
              <a:rPr lang="en-US" sz="2400">
                <a:solidFill>
                  <a:srgbClr val="242424"/>
                </a:solidFill>
                <a:latin typeface="Aptos Display"/>
                <a:ea typeface="+mn-lt"/>
                <a:cs typeface="+mn-lt"/>
              </a:rPr>
              <a:t>For the infrastructure, choose </a:t>
            </a:r>
            <a:r>
              <a:rPr lang="en-US" sz="2400">
                <a:solidFill>
                  <a:srgbClr val="242424"/>
                </a:solidFill>
                <a:latin typeface="Aptos Display"/>
                <a:ea typeface="Calibri"/>
                <a:cs typeface="Calibri"/>
              </a:rPr>
              <a:t>AWS Fargate (serverless). </a:t>
            </a:r>
            <a:r>
              <a:rPr lang="en-US" sz="2400">
                <a:solidFill>
                  <a:srgbClr val="242424"/>
                </a:solidFill>
                <a:latin typeface="Aptos Display"/>
                <a:ea typeface="+mn-lt"/>
                <a:cs typeface="+mn-lt"/>
              </a:rPr>
              <a:t>Scroll down and click on </a:t>
            </a:r>
            <a:r>
              <a:rPr lang="en-US" sz="2400">
                <a:solidFill>
                  <a:srgbClr val="242424"/>
                </a:solidFill>
                <a:latin typeface="Aptos Display"/>
                <a:ea typeface="Calibri"/>
                <a:cs typeface="Calibri"/>
              </a:rPr>
              <a:t>Create. </a:t>
            </a:r>
            <a:r>
              <a:rPr lang="en-US" sz="2400">
                <a:solidFill>
                  <a:srgbClr val="242424"/>
                </a:solidFill>
                <a:latin typeface="Aptos Display"/>
                <a:ea typeface="+mn-lt"/>
                <a:cs typeface="+mn-lt"/>
              </a:rPr>
              <a:t>After a few seconds, the cluster is created.</a:t>
            </a:r>
            <a:endParaRPr lang="en-US" sz="2400" b="1" i="1">
              <a:solidFill>
                <a:srgbClr val="242424"/>
              </a:solidFill>
              <a:latin typeface="Aptos Display"/>
              <a:ea typeface="+mn-lt"/>
              <a:cs typeface="+mn-lt"/>
            </a:endParaRPr>
          </a:p>
          <a:p>
            <a:br>
              <a:rPr lang="en-US"/>
            </a:br>
            <a:endParaRPr lang="en-US"/>
          </a:p>
          <a:p>
            <a:endParaRPr lang="en-US">
              <a:solidFill>
                <a:srgbClr val="242424"/>
              </a:solidFill>
              <a:latin typeface="Aptos Display"/>
              <a:ea typeface="Calibri"/>
              <a:cs typeface="Calibri"/>
            </a:endParaRPr>
          </a:p>
          <a:p>
            <a:endParaRPr lang="en-US">
              <a:solidFill>
                <a:srgbClr val="242424"/>
              </a:solidFill>
              <a:latin typeface="Consolas"/>
              <a:ea typeface="Calibri"/>
              <a:cs typeface="Calibri"/>
            </a:endParaRPr>
          </a:p>
          <a:p>
            <a:endParaRPr lang="en-US" sz="2000">
              <a:solidFill>
                <a:srgbClr val="242424"/>
              </a:solidFill>
              <a:latin typeface="Consolas"/>
              <a:ea typeface="Calibri"/>
              <a:cs typeface="Calibri"/>
            </a:endParaRPr>
          </a:p>
          <a:p>
            <a:br>
              <a:rPr lang="en-US"/>
            </a:br>
            <a:endParaRPr lang="en-US"/>
          </a:p>
          <a:p>
            <a:endParaRPr lang="en-US" sz="2000">
              <a:solidFill>
                <a:srgbClr val="242424"/>
              </a:solidFill>
              <a:latin typeface="Aptos Display"/>
              <a:ea typeface="Calibri"/>
              <a:cs typeface="Calibri"/>
            </a:endParaRPr>
          </a:p>
          <a:p>
            <a:endParaRPr lang="en-US" sz="2000">
              <a:solidFill>
                <a:srgbClr val="242424"/>
              </a:solidFill>
              <a:ea typeface="Calibri"/>
              <a:cs typeface="Calibri"/>
            </a:endParaRPr>
          </a:p>
          <a:p>
            <a:endParaRPr lang="en-US" sz="1500" b="1" i="1">
              <a:solidFill>
                <a:srgbClr val="242424"/>
              </a:solidFill>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78548DAA-A86E-EE29-6AA2-A87BD0FF837D}"/>
              </a:ext>
            </a:extLst>
          </p:cNvPr>
          <p:cNvPicPr>
            <a:picLocks noChangeAspect="1"/>
          </p:cNvPicPr>
          <p:nvPr/>
        </p:nvPicPr>
        <p:blipFill>
          <a:blip r:embed="rId2"/>
          <a:stretch>
            <a:fillRect/>
          </a:stretch>
        </p:blipFill>
        <p:spPr>
          <a:xfrm>
            <a:off x="3047602" y="2272393"/>
            <a:ext cx="6042366" cy="4082143"/>
          </a:xfrm>
          <a:prstGeom prst="rect">
            <a:avLst/>
          </a:prstGeom>
        </p:spPr>
      </p:pic>
    </p:spTree>
    <p:extLst>
      <p:ext uri="{BB962C8B-B14F-4D97-AF65-F5344CB8AC3E}">
        <p14:creationId xmlns:p14="http://schemas.microsoft.com/office/powerpoint/2010/main" val="628589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9DD2E-A40A-256B-1833-943A633A661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DAB16C-E0E2-14DB-71B8-50A1073B8EF5}"/>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6C0D901E-EFF1-8D05-5F97-2E1989BDA320}"/>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20</a:t>
            </a:fld>
            <a:endParaRPr spc="-25"/>
          </a:p>
        </p:txBody>
      </p:sp>
      <p:sp>
        <p:nvSpPr>
          <p:cNvPr id="6" name="TextBox 5">
            <a:extLst>
              <a:ext uri="{FF2B5EF4-FFF2-40B4-BE49-F238E27FC236}">
                <a16:creationId xmlns:a16="http://schemas.microsoft.com/office/drawing/2014/main" id="{2743AA60-0EC0-9685-0728-E6A43096A53B}"/>
              </a:ext>
            </a:extLst>
          </p:cNvPr>
          <p:cNvSpPr txBox="1"/>
          <p:nvPr/>
        </p:nvSpPr>
        <p:spPr>
          <a:xfrm>
            <a:off x="693964" y="1074964"/>
            <a:ext cx="11212285"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TASK DEFINITION:</a:t>
            </a:r>
          </a:p>
          <a:p>
            <a:r>
              <a:rPr lang="en-US" sz="2400">
                <a:latin typeface="Aptos Display"/>
                <a:ea typeface="Calibri"/>
                <a:cs typeface="Calibri"/>
              </a:rPr>
              <a:t>On the left navigation plane, click on Task definitions and click on Create new task definition then select Create new task definition</a:t>
            </a:r>
            <a:endParaRPr lang="en-US"/>
          </a:p>
          <a:p>
            <a:endParaRPr lang="en-US" sz="2400">
              <a:latin typeface="Aptos Display"/>
              <a:ea typeface="Calibri"/>
              <a:cs typeface="Calibri"/>
            </a:endParaRPr>
          </a:p>
          <a:p>
            <a:pPr algn="ctr"/>
            <a:br>
              <a:rPr lang="en-US"/>
            </a:br>
            <a:endParaRPr lang="en-US"/>
          </a:p>
          <a:p>
            <a:pPr algn="ctr"/>
            <a:endParaRPr lang="en-US">
              <a:ea typeface="Calibri"/>
              <a:cs typeface="Calibri"/>
            </a:endParaRPr>
          </a:p>
        </p:txBody>
      </p:sp>
      <p:pic>
        <p:nvPicPr>
          <p:cNvPr id="8" name="Picture 7" descr="A screenshot of a task definition&#10;&#10;AI-generated content may be incorrect.">
            <a:extLst>
              <a:ext uri="{FF2B5EF4-FFF2-40B4-BE49-F238E27FC236}">
                <a16:creationId xmlns:a16="http://schemas.microsoft.com/office/drawing/2014/main" id="{F277643B-1065-6AA9-4398-8AB96BE2FE27}"/>
              </a:ext>
            </a:extLst>
          </p:cNvPr>
          <p:cNvPicPr>
            <a:picLocks noChangeAspect="1"/>
          </p:cNvPicPr>
          <p:nvPr/>
        </p:nvPicPr>
        <p:blipFill>
          <a:blip r:embed="rId2"/>
          <a:stretch>
            <a:fillRect/>
          </a:stretch>
        </p:blipFill>
        <p:spPr>
          <a:xfrm>
            <a:off x="1347106" y="2271031"/>
            <a:ext cx="9906002" cy="3989615"/>
          </a:xfrm>
          <a:prstGeom prst="rect">
            <a:avLst/>
          </a:prstGeom>
        </p:spPr>
      </p:pic>
    </p:spTree>
    <p:extLst>
      <p:ext uri="{BB962C8B-B14F-4D97-AF65-F5344CB8AC3E}">
        <p14:creationId xmlns:p14="http://schemas.microsoft.com/office/powerpoint/2010/main" val="1569012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178C-75F9-806C-09E7-66799B98620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E5ADEFA-33D4-47E8-868B-97AB9A8E4B8E}"/>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E9B59664-04DB-459C-62C4-C2FB24D4E045}"/>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21</a:t>
            </a:fld>
            <a:endParaRPr spc="-25"/>
          </a:p>
        </p:txBody>
      </p:sp>
      <p:sp>
        <p:nvSpPr>
          <p:cNvPr id="6" name="TextBox 5">
            <a:extLst>
              <a:ext uri="{FF2B5EF4-FFF2-40B4-BE49-F238E27FC236}">
                <a16:creationId xmlns:a16="http://schemas.microsoft.com/office/drawing/2014/main" id="{107A764F-8C43-D091-32E7-1C917421118F}"/>
              </a:ext>
            </a:extLst>
          </p:cNvPr>
          <p:cNvSpPr txBox="1"/>
          <p:nvPr/>
        </p:nvSpPr>
        <p:spPr>
          <a:xfrm>
            <a:off x="693964" y="1074964"/>
            <a:ext cx="11212285"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TASK DEFINITION:</a:t>
            </a:r>
          </a:p>
          <a:p>
            <a:r>
              <a:rPr lang="en-US" sz="2400">
                <a:latin typeface="Aptos Display"/>
                <a:ea typeface="Calibri"/>
                <a:cs typeface="Calibri"/>
              </a:rPr>
              <a:t>Give the task definition a family name and under the Launch type, select AWS Fargate.</a:t>
            </a:r>
            <a:endParaRPr lang="en-US"/>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a:p>
          <a:p>
            <a:pPr algn="ctr"/>
            <a:endParaRPr lang="en-US">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00E8281A-177E-5AD3-89E0-BACD211C4AA4}"/>
              </a:ext>
            </a:extLst>
          </p:cNvPr>
          <p:cNvPicPr>
            <a:picLocks noChangeAspect="1"/>
          </p:cNvPicPr>
          <p:nvPr/>
        </p:nvPicPr>
        <p:blipFill>
          <a:blip r:embed="rId2"/>
          <a:stretch>
            <a:fillRect/>
          </a:stretch>
        </p:blipFill>
        <p:spPr>
          <a:xfrm>
            <a:off x="3258911" y="1881187"/>
            <a:ext cx="5660572" cy="4429126"/>
          </a:xfrm>
          <a:prstGeom prst="rect">
            <a:avLst/>
          </a:prstGeom>
        </p:spPr>
      </p:pic>
    </p:spTree>
    <p:extLst>
      <p:ext uri="{BB962C8B-B14F-4D97-AF65-F5344CB8AC3E}">
        <p14:creationId xmlns:p14="http://schemas.microsoft.com/office/powerpoint/2010/main" val="3228961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4393B-79F2-9595-8BCE-202C11BD3C9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4CFCFEA-8246-10E4-D89A-D5E6A2E54305}"/>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FD234077-ACF9-E797-B35B-1DAE200FB499}"/>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22</a:t>
            </a:fld>
            <a:endParaRPr spc="-25"/>
          </a:p>
        </p:txBody>
      </p:sp>
      <p:sp>
        <p:nvSpPr>
          <p:cNvPr id="6" name="TextBox 5">
            <a:extLst>
              <a:ext uri="{FF2B5EF4-FFF2-40B4-BE49-F238E27FC236}">
                <a16:creationId xmlns:a16="http://schemas.microsoft.com/office/drawing/2014/main" id="{FC62C284-9FA5-6061-9DC5-EFEB44E5EA87}"/>
              </a:ext>
            </a:extLst>
          </p:cNvPr>
          <p:cNvSpPr txBox="1"/>
          <p:nvPr/>
        </p:nvSpPr>
        <p:spPr>
          <a:xfrm>
            <a:off x="693964" y="1074964"/>
            <a:ext cx="11212285"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TASK DEFINITION:</a:t>
            </a:r>
          </a:p>
          <a:p>
            <a:r>
              <a:rPr lang="en-US" sz="2400">
                <a:latin typeface="Aptos Display"/>
                <a:ea typeface="Calibri"/>
                <a:cs typeface="Calibri"/>
              </a:rPr>
              <a:t>Under the container details, give the container a name and the repository </a:t>
            </a:r>
            <a:r>
              <a:rPr lang="en-US" sz="2400" err="1">
                <a:latin typeface="Aptos Display"/>
                <a:ea typeface="Calibri"/>
                <a:cs typeface="Calibri"/>
              </a:rPr>
              <a:t>url</a:t>
            </a:r>
            <a:r>
              <a:rPr lang="en-US" sz="2400">
                <a:latin typeface="Aptos Display"/>
                <a:ea typeface="Calibri"/>
                <a:cs typeface="Calibri"/>
              </a:rPr>
              <a:t> (The image </a:t>
            </a:r>
            <a:r>
              <a:rPr lang="en-US" sz="2400" err="1">
                <a:latin typeface="Aptos Display"/>
                <a:ea typeface="Calibri"/>
                <a:cs typeface="Calibri"/>
              </a:rPr>
              <a:t>url</a:t>
            </a:r>
            <a:r>
              <a:rPr lang="en-US" sz="2400">
                <a:latin typeface="Aptos Display"/>
                <a:ea typeface="Calibri"/>
                <a:cs typeface="Calibri"/>
              </a:rPr>
              <a:t> of the docker image pushed into ECR)</a:t>
            </a:r>
            <a:endParaRPr lang="en-US"/>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a:p>
          <a:p>
            <a:pPr algn="ctr"/>
            <a:endParaRPr lang="en-US">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25863D4B-9D7C-EAD1-F4E7-97313751D0FD}"/>
              </a:ext>
            </a:extLst>
          </p:cNvPr>
          <p:cNvPicPr>
            <a:picLocks noChangeAspect="1"/>
          </p:cNvPicPr>
          <p:nvPr/>
        </p:nvPicPr>
        <p:blipFill>
          <a:blip r:embed="rId2"/>
          <a:stretch>
            <a:fillRect/>
          </a:stretch>
        </p:blipFill>
        <p:spPr>
          <a:xfrm>
            <a:off x="147638" y="2271713"/>
            <a:ext cx="11896725" cy="2314575"/>
          </a:xfrm>
          <a:prstGeom prst="rect">
            <a:avLst/>
          </a:prstGeom>
        </p:spPr>
      </p:pic>
      <p:sp>
        <p:nvSpPr>
          <p:cNvPr id="7" name="TextBox 6">
            <a:extLst>
              <a:ext uri="{FF2B5EF4-FFF2-40B4-BE49-F238E27FC236}">
                <a16:creationId xmlns:a16="http://schemas.microsoft.com/office/drawing/2014/main" id="{FDF77B1C-3FF3-7430-CBFE-DF75B383DCC3}"/>
              </a:ext>
            </a:extLst>
          </p:cNvPr>
          <p:cNvSpPr txBox="1"/>
          <p:nvPr/>
        </p:nvSpPr>
        <p:spPr>
          <a:xfrm>
            <a:off x="643281" y="4794231"/>
            <a:ext cx="10562768"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rgbClr val="242424"/>
                </a:solidFill>
                <a:latin typeface="Aptos Display"/>
                <a:ea typeface="+mn-lt"/>
                <a:cs typeface="+mn-lt"/>
              </a:rPr>
              <a:t>Set the </a:t>
            </a:r>
            <a:r>
              <a:rPr lang="en-US" sz="2800">
                <a:solidFill>
                  <a:srgbClr val="242424"/>
                </a:solidFill>
                <a:latin typeface="Aptos Display"/>
              </a:rPr>
              <a:t>container port</a:t>
            </a:r>
            <a:r>
              <a:rPr lang="en-US" sz="2800">
                <a:solidFill>
                  <a:srgbClr val="242424"/>
                </a:solidFill>
                <a:latin typeface="Aptos Display"/>
                <a:ea typeface="+mn-lt"/>
                <a:cs typeface="+mn-lt"/>
              </a:rPr>
              <a:t> to 8085 since our website runs on port 8085 and also set port 80 with TCP protocol for the container. Click on Create.</a:t>
            </a:r>
            <a:endParaRPr lang="en-US" sz="2800">
              <a:latin typeface="Aptos Display"/>
              <a:ea typeface="Calibri"/>
              <a:cs typeface="Calibri"/>
            </a:endParaRPr>
          </a:p>
        </p:txBody>
      </p:sp>
    </p:spTree>
    <p:extLst>
      <p:ext uri="{BB962C8B-B14F-4D97-AF65-F5344CB8AC3E}">
        <p14:creationId xmlns:p14="http://schemas.microsoft.com/office/powerpoint/2010/main" val="120120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A7C0-44C9-F937-7B07-EB8B269B171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63D5CC-1474-37FB-2D84-8CFC286CDAC8}"/>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F49019FB-6DF0-1588-1182-D14F7B787829}"/>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23</a:t>
            </a:fld>
            <a:endParaRPr spc="-25"/>
          </a:p>
        </p:txBody>
      </p:sp>
      <p:sp>
        <p:nvSpPr>
          <p:cNvPr id="6" name="TextBox 5">
            <a:extLst>
              <a:ext uri="{FF2B5EF4-FFF2-40B4-BE49-F238E27FC236}">
                <a16:creationId xmlns:a16="http://schemas.microsoft.com/office/drawing/2014/main" id="{F8D13653-A951-250B-498E-12AA2F7F2CB8}"/>
              </a:ext>
            </a:extLst>
          </p:cNvPr>
          <p:cNvSpPr txBox="1"/>
          <p:nvPr/>
        </p:nvSpPr>
        <p:spPr>
          <a:xfrm>
            <a:off x="693964" y="1074964"/>
            <a:ext cx="11212285"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endParaRPr lang="en-US" sz="2400">
              <a:latin typeface="Aptos Display"/>
              <a:ea typeface="Calibri"/>
              <a:cs typeface="Calibri"/>
            </a:endParaRPr>
          </a:p>
          <a:p>
            <a:r>
              <a:rPr lang="en-US" sz="2400">
                <a:solidFill>
                  <a:srgbClr val="242424"/>
                </a:solidFill>
                <a:latin typeface="Aptos Display"/>
                <a:ea typeface="+mn-lt"/>
                <a:cs typeface="+mn-lt"/>
              </a:rPr>
              <a:t>Now we need to create a service which creates the task in the task definition. On the ECS console, click on </a:t>
            </a:r>
            <a:r>
              <a:rPr lang="en-US" sz="2400">
                <a:solidFill>
                  <a:srgbClr val="242424"/>
                </a:solidFill>
                <a:latin typeface="Aptos Display"/>
                <a:ea typeface="Calibri"/>
                <a:cs typeface="Calibri"/>
              </a:rPr>
              <a:t>Clusters</a:t>
            </a:r>
            <a:r>
              <a:rPr lang="en-US" sz="2400">
                <a:solidFill>
                  <a:srgbClr val="242424"/>
                </a:solidFill>
                <a:latin typeface="Aptos Display"/>
                <a:ea typeface="+mn-lt"/>
                <a:cs typeface="+mn-lt"/>
              </a:rPr>
              <a:t> then select the cluster we created. </a:t>
            </a:r>
            <a:r>
              <a:rPr lang="en-US" sz="2400">
                <a:solidFill>
                  <a:srgbClr val="242424"/>
                </a:solidFill>
                <a:ea typeface="+mn-lt"/>
                <a:cs typeface="+mn-lt"/>
              </a:rPr>
              <a:t>Under the </a:t>
            </a:r>
            <a:r>
              <a:rPr lang="en-US" sz="2400">
                <a:solidFill>
                  <a:srgbClr val="242424"/>
                </a:solidFill>
                <a:latin typeface="Consolas"/>
                <a:ea typeface="+mn-lt"/>
                <a:cs typeface="+mn-lt"/>
              </a:rPr>
              <a:t>Services</a:t>
            </a:r>
            <a:r>
              <a:rPr lang="en-US" sz="2400">
                <a:solidFill>
                  <a:srgbClr val="242424"/>
                </a:solidFill>
                <a:ea typeface="+mn-lt"/>
                <a:cs typeface="+mn-lt"/>
              </a:rPr>
              <a:t> tab, click on </a:t>
            </a:r>
            <a:r>
              <a:rPr lang="en-US" sz="2400">
                <a:solidFill>
                  <a:srgbClr val="242424"/>
                </a:solidFill>
                <a:latin typeface="Consolas"/>
                <a:ea typeface="+mn-lt"/>
                <a:cs typeface="+mn-lt"/>
              </a:rPr>
              <a:t>Create</a:t>
            </a:r>
            <a:endParaRPr lang="en-US" sz="2400">
              <a:latin typeface="Aptos Display"/>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sz="2400">
              <a:ea typeface="Calibri"/>
              <a:cs typeface="Calibri"/>
            </a:endParaRPr>
          </a:p>
          <a:p>
            <a:pPr algn="ctr"/>
            <a:endParaRPr lang="en-US" sz="2400">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ADC7F2F7-8635-745F-19FC-C67BCCE5257E}"/>
              </a:ext>
            </a:extLst>
          </p:cNvPr>
          <p:cNvPicPr>
            <a:picLocks noChangeAspect="1"/>
          </p:cNvPicPr>
          <p:nvPr/>
        </p:nvPicPr>
        <p:blipFill>
          <a:blip r:embed="rId2"/>
          <a:stretch>
            <a:fillRect/>
          </a:stretch>
        </p:blipFill>
        <p:spPr>
          <a:xfrm>
            <a:off x="795338" y="3218770"/>
            <a:ext cx="10574111" cy="2216604"/>
          </a:xfrm>
          <a:prstGeom prst="rect">
            <a:avLst/>
          </a:prstGeom>
        </p:spPr>
      </p:pic>
    </p:spTree>
    <p:extLst>
      <p:ext uri="{BB962C8B-B14F-4D97-AF65-F5344CB8AC3E}">
        <p14:creationId xmlns:p14="http://schemas.microsoft.com/office/powerpoint/2010/main" val="966571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7F8CF-6C16-9B35-0954-68D4FDBB5C2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81509C4-3EB3-47A8-0C01-3C6051C71DD4}"/>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B53295E6-92C1-9746-335D-E9BC6826204E}"/>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24</a:t>
            </a:fld>
            <a:endParaRPr spc="-25"/>
          </a:p>
        </p:txBody>
      </p:sp>
      <p:sp>
        <p:nvSpPr>
          <p:cNvPr id="6" name="TextBox 5">
            <a:extLst>
              <a:ext uri="{FF2B5EF4-FFF2-40B4-BE49-F238E27FC236}">
                <a16:creationId xmlns:a16="http://schemas.microsoft.com/office/drawing/2014/main" id="{C64B88D5-46BD-B27C-060A-B05B39B31D0A}"/>
              </a:ext>
            </a:extLst>
          </p:cNvPr>
          <p:cNvSpPr txBox="1"/>
          <p:nvPr/>
        </p:nvSpPr>
        <p:spPr>
          <a:xfrm>
            <a:off x="612321" y="762000"/>
            <a:ext cx="1121228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r>
              <a:rPr lang="en-US" sz="2400">
                <a:solidFill>
                  <a:srgbClr val="242424"/>
                </a:solidFill>
                <a:latin typeface="Consolas"/>
                <a:ea typeface="Calibri"/>
                <a:cs typeface="Calibri"/>
              </a:rPr>
              <a:t>Use the following configurations:</a:t>
            </a:r>
            <a:endParaRPr lang="en-US" sz="2400">
              <a:latin typeface="Aptos Display"/>
              <a:ea typeface="Calibri"/>
              <a:cs typeface="Calibri"/>
            </a:endParaRPr>
          </a:p>
          <a:p>
            <a:endParaRPr lang="en-US" sz="2400">
              <a:solidFill>
                <a:srgbClr val="242424"/>
              </a:solidFill>
              <a:latin typeface="Consolas"/>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sz="2400">
              <a:ea typeface="Calibri"/>
              <a:cs typeface="Calibri"/>
            </a:endParaRPr>
          </a:p>
          <a:p>
            <a:pPr algn="ctr"/>
            <a:endParaRPr lang="en-US" sz="2400">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290EF638-9940-3A9A-988A-76BE277E2E72}"/>
              </a:ext>
            </a:extLst>
          </p:cNvPr>
          <p:cNvPicPr>
            <a:picLocks noChangeAspect="1"/>
          </p:cNvPicPr>
          <p:nvPr/>
        </p:nvPicPr>
        <p:blipFill>
          <a:blip r:embed="rId2"/>
          <a:stretch>
            <a:fillRect/>
          </a:stretch>
        </p:blipFill>
        <p:spPr>
          <a:xfrm>
            <a:off x="586470" y="1522639"/>
            <a:ext cx="9862456" cy="4411436"/>
          </a:xfrm>
          <a:prstGeom prst="rect">
            <a:avLst/>
          </a:prstGeom>
        </p:spPr>
      </p:pic>
    </p:spTree>
    <p:extLst>
      <p:ext uri="{BB962C8B-B14F-4D97-AF65-F5344CB8AC3E}">
        <p14:creationId xmlns:p14="http://schemas.microsoft.com/office/powerpoint/2010/main" val="38327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68687-A6E9-917B-8C93-B8E6CA8E713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0D75881-7274-593A-2AF0-BB295F9EF3A0}"/>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9CB0E92F-A0BA-46C1-BAF2-ECAB29CA7007}"/>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25</a:t>
            </a:fld>
            <a:endParaRPr spc="-25"/>
          </a:p>
        </p:txBody>
      </p:sp>
      <p:sp>
        <p:nvSpPr>
          <p:cNvPr id="6" name="TextBox 5">
            <a:extLst>
              <a:ext uri="{FF2B5EF4-FFF2-40B4-BE49-F238E27FC236}">
                <a16:creationId xmlns:a16="http://schemas.microsoft.com/office/drawing/2014/main" id="{9592A9FE-DD1C-AA5E-156A-A3345CB669B7}"/>
              </a:ext>
            </a:extLst>
          </p:cNvPr>
          <p:cNvSpPr txBox="1"/>
          <p:nvPr/>
        </p:nvSpPr>
        <p:spPr>
          <a:xfrm>
            <a:off x="612321" y="762000"/>
            <a:ext cx="11212285"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r>
              <a:rPr lang="en-US" sz="2400">
                <a:solidFill>
                  <a:srgbClr val="242424"/>
                </a:solidFill>
                <a:latin typeface="Consolas"/>
                <a:ea typeface="Calibri"/>
                <a:cs typeface="Calibri"/>
              </a:rPr>
              <a:t>Do the following under Deployment configurations: (here we set number of tasks as 1)</a:t>
            </a:r>
            <a:endParaRPr lang="en-US" sz="2400">
              <a:latin typeface="Aptos Display"/>
              <a:ea typeface="Calibri"/>
              <a:cs typeface="Calibri"/>
            </a:endParaRPr>
          </a:p>
          <a:p>
            <a:endParaRPr lang="en-US" sz="2400">
              <a:solidFill>
                <a:srgbClr val="242424"/>
              </a:solidFill>
              <a:latin typeface="Consolas"/>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sz="2400">
              <a:ea typeface="Calibri"/>
              <a:cs typeface="Calibri"/>
            </a:endParaRPr>
          </a:p>
          <a:p>
            <a:pPr algn="ctr"/>
            <a:endParaRPr lang="en-US" sz="2400">
              <a:ea typeface="Calibri"/>
              <a:cs typeface="Calibri"/>
            </a:endParaRPr>
          </a:p>
        </p:txBody>
      </p:sp>
      <p:pic>
        <p:nvPicPr>
          <p:cNvPr id="3" name="Picture 2" descr="A screenshot of a computer&#10;&#10;AI-generated content may be incorrect.">
            <a:extLst>
              <a:ext uri="{FF2B5EF4-FFF2-40B4-BE49-F238E27FC236}">
                <a16:creationId xmlns:a16="http://schemas.microsoft.com/office/drawing/2014/main" id="{DA4F3E94-FD89-DA16-5521-3E07B2919821}"/>
              </a:ext>
            </a:extLst>
          </p:cNvPr>
          <p:cNvPicPr>
            <a:picLocks noChangeAspect="1"/>
          </p:cNvPicPr>
          <p:nvPr/>
        </p:nvPicPr>
        <p:blipFill>
          <a:blip r:embed="rId2"/>
          <a:stretch>
            <a:fillRect/>
          </a:stretch>
        </p:blipFill>
        <p:spPr>
          <a:xfrm>
            <a:off x="749754" y="2025423"/>
            <a:ext cx="8243207" cy="4086226"/>
          </a:xfrm>
          <a:prstGeom prst="rect">
            <a:avLst/>
          </a:prstGeom>
        </p:spPr>
      </p:pic>
    </p:spTree>
    <p:extLst>
      <p:ext uri="{BB962C8B-B14F-4D97-AF65-F5344CB8AC3E}">
        <p14:creationId xmlns:p14="http://schemas.microsoft.com/office/powerpoint/2010/main" val="28524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4D1E1-08CD-D6E3-69FA-23B2535886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136968B-282E-6E80-1414-6F9596F937FB}"/>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2FECC4C5-DB81-6BFA-8711-9269841358B7}"/>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26</a:t>
            </a:fld>
            <a:endParaRPr spc="-25"/>
          </a:p>
        </p:txBody>
      </p:sp>
      <p:sp>
        <p:nvSpPr>
          <p:cNvPr id="6" name="TextBox 5">
            <a:extLst>
              <a:ext uri="{FF2B5EF4-FFF2-40B4-BE49-F238E27FC236}">
                <a16:creationId xmlns:a16="http://schemas.microsoft.com/office/drawing/2014/main" id="{7CD20460-49C2-1215-46F8-62F689D94158}"/>
              </a:ext>
            </a:extLst>
          </p:cNvPr>
          <p:cNvSpPr txBox="1"/>
          <p:nvPr/>
        </p:nvSpPr>
        <p:spPr>
          <a:xfrm>
            <a:off x="612321" y="762000"/>
            <a:ext cx="1121228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r>
              <a:rPr lang="en-US" sz="2400">
                <a:solidFill>
                  <a:srgbClr val="242424"/>
                </a:solidFill>
                <a:latin typeface="Consolas"/>
                <a:ea typeface="Calibri"/>
                <a:cs typeface="Calibri"/>
              </a:rPr>
              <a:t>Under Networking, create a new Security group and allow TCP traffic on port 8085, as well as port 80. Here it is demonstrated for port 5000.</a:t>
            </a:r>
            <a:endParaRPr lang="en-US"/>
          </a:p>
          <a:p>
            <a:endParaRPr lang="en-US" sz="2400">
              <a:solidFill>
                <a:srgbClr val="242424"/>
              </a:solidFill>
              <a:latin typeface="Consolas"/>
              <a:ea typeface="Calibri"/>
              <a:cs typeface="Calibri"/>
            </a:endParaRPr>
          </a:p>
          <a:p>
            <a:endParaRPr lang="en-US" sz="2400">
              <a:solidFill>
                <a:srgbClr val="242424"/>
              </a:solidFill>
              <a:latin typeface="Consolas"/>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sz="2400">
              <a:ea typeface="Calibri"/>
              <a:cs typeface="Calibri"/>
            </a:endParaRPr>
          </a:p>
          <a:p>
            <a:pPr algn="ctr"/>
            <a:endParaRPr lang="en-US" sz="2400">
              <a:ea typeface="Calibri"/>
              <a:cs typeface="Calibri"/>
            </a:endParaRPr>
          </a:p>
        </p:txBody>
      </p:sp>
      <p:pic>
        <p:nvPicPr>
          <p:cNvPr id="5" name="Picture 4" descr="A screenshot of a security group&#10;&#10;AI-generated content may be incorrect.">
            <a:extLst>
              <a:ext uri="{FF2B5EF4-FFF2-40B4-BE49-F238E27FC236}">
                <a16:creationId xmlns:a16="http://schemas.microsoft.com/office/drawing/2014/main" id="{6BD6107D-1DF7-B1AC-6EC4-6B94A85D3075}"/>
              </a:ext>
            </a:extLst>
          </p:cNvPr>
          <p:cNvPicPr>
            <a:picLocks noChangeAspect="1"/>
          </p:cNvPicPr>
          <p:nvPr/>
        </p:nvPicPr>
        <p:blipFill>
          <a:blip r:embed="rId2"/>
          <a:stretch>
            <a:fillRect/>
          </a:stretch>
        </p:blipFill>
        <p:spPr>
          <a:xfrm>
            <a:off x="2018619" y="2396898"/>
            <a:ext cx="7909832" cy="3805919"/>
          </a:xfrm>
          <a:prstGeom prst="rect">
            <a:avLst/>
          </a:prstGeom>
        </p:spPr>
      </p:pic>
    </p:spTree>
    <p:extLst>
      <p:ext uri="{BB962C8B-B14F-4D97-AF65-F5344CB8AC3E}">
        <p14:creationId xmlns:p14="http://schemas.microsoft.com/office/powerpoint/2010/main" val="1825602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E247F-5605-DEC0-6564-EBAB1B4EF4C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BDBCE55-860C-84EC-AC6D-C402107F28F7}"/>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914AE316-F3E5-9A64-49FC-DBE95573D4EE}"/>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27</a:t>
            </a:fld>
            <a:endParaRPr spc="-25"/>
          </a:p>
        </p:txBody>
      </p:sp>
      <p:sp>
        <p:nvSpPr>
          <p:cNvPr id="6" name="TextBox 5">
            <a:extLst>
              <a:ext uri="{FF2B5EF4-FFF2-40B4-BE49-F238E27FC236}">
                <a16:creationId xmlns:a16="http://schemas.microsoft.com/office/drawing/2014/main" id="{8FE6A5C3-30AD-04CC-7A70-5B0511273A2E}"/>
              </a:ext>
            </a:extLst>
          </p:cNvPr>
          <p:cNvSpPr txBox="1"/>
          <p:nvPr/>
        </p:nvSpPr>
        <p:spPr>
          <a:xfrm>
            <a:off x="612321" y="762000"/>
            <a:ext cx="1121228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r>
              <a:rPr lang="en-US" sz="2400">
                <a:solidFill>
                  <a:srgbClr val="242424"/>
                </a:solidFill>
                <a:latin typeface="Consolas"/>
                <a:ea typeface="Calibri"/>
                <a:cs typeface="Calibri"/>
              </a:rPr>
              <a:t>Under Networking, also create Virtual Private Cloud and subnet masks for creating public IP addresses. Scroll down and click on Create. Give it some time for the service to deploy successfully. </a:t>
            </a:r>
          </a:p>
          <a:p>
            <a:endParaRPr lang="en-US" sz="2400">
              <a:solidFill>
                <a:srgbClr val="242424"/>
              </a:solidFill>
              <a:latin typeface="Consolas"/>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br>
              <a:rPr lang="en-US"/>
            </a:br>
            <a:endParaRPr lang="en-US" sz="2400">
              <a:ea typeface="Calibri"/>
              <a:cs typeface="Calibri"/>
            </a:endParaRPr>
          </a:p>
          <a:p>
            <a:pPr algn="ctr"/>
            <a:endParaRPr lang="en-US" sz="2400">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A14804A3-B529-4D07-C4DB-1C75D939E548}"/>
              </a:ext>
            </a:extLst>
          </p:cNvPr>
          <p:cNvPicPr>
            <a:picLocks noChangeAspect="1"/>
          </p:cNvPicPr>
          <p:nvPr/>
        </p:nvPicPr>
        <p:blipFill>
          <a:blip r:embed="rId2"/>
          <a:stretch>
            <a:fillRect/>
          </a:stretch>
        </p:blipFill>
        <p:spPr>
          <a:xfrm>
            <a:off x="3279321" y="2388325"/>
            <a:ext cx="7701643" cy="3877491"/>
          </a:xfrm>
          <a:prstGeom prst="rect">
            <a:avLst/>
          </a:prstGeom>
        </p:spPr>
      </p:pic>
    </p:spTree>
    <p:extLst>
      <p:ext uri="{BB962C8B-B14F-4D97-AF65-F5344CB8AC3E}">
        <p14:creationId xmlns:p14="http://schemas.microsoft.com/office/powerpoint/2010/main" val="3359276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E3BE-3E1C-3590-F634-23D14F1A1C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2D9E7A3-D023-0C32-CE78-4FFC7713D72C}"/>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CLOUD DEPLOYMENT (AWS-ECS)</a:t>
            </a:r>
          </a:p>
        </p:txBody>
      </p:sp>
      <p:sp>
        <p:nvSpPr>
          <p:cNvPr id="4" name="object 4">
            <a:extLst>
              <a:ext uri="{FF2B5EF4-FFF2-40B4-BE49-F238E27FC236}">
                <a16:creationId xmlns:a16="http://schemas.microsoft.com/office/drawing/2014/main" id="{31FB9456-8CE3-4FF8-D12E-07BDB58EB8AB}"/>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28</a:t>
            </a:fld>
            <a:endParaRPr spc="-25"/>
          </a:p>
        </p:txBody>
      </p:sp>
      <p:sp>
        <p:nvSpPr>
          <p:cNvPr id="6" name="TextBox 5">
            <a:extLst>
              <a:ext uri="{FF2B5EF4-FFF2-40B4-BE49-F238E27FC236}">
                <a16:creationId xmlns:a16="http://schemas.microsoft.com/office/drawing/2014/main" id="{B639B43A-24B0-0AA8-00D3-46A5A98E3ABA}"/>
              </a:ext>
            </a:extLst>
          </p:cNvPr>
          <p:cNvSpPr txBox="1"/>
          <p:nvPr/>
        </p:nvSpPr>
        <p:spPr>
          <a:xfrm>
            <a:off x="612321" y="762000"/>
            <a:ext cx="11212285" cy="56477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Display"/>
                <a:ea typeface="Calibri"/>
                <a:cs typeface="Calibri"/>
              </a:rPr>
              <a:t>CREATING A SERVICE:</a:t>
            </a:r>
          </a:p>
          <a:p>
            <a:r>
              <a:rPr lang="en-US" sz="2800">
                <a:solidFill>
                  <a:srgbClr val="242424"/>
                </a:solidFill>
                <a:ea typeface="+mn-lt"/>
                <a:cs typeface="+mn-lt"/>
              </a:rPr>
              <a:t>Select the service you created. Move to the Tasks tab and click on one of the running tasks.</a:t>
            </a:r>
            <a:endParaRPr lang="en-US" sz="2800">
              <a:ea typeface="Calibri"/>
              <a:cs typeface="Calibri"/>
            </a:endParaRPr>
          </a:p>
          <a:p>
            <a:endParaRPr lang="en-US" sz="2800">
              <a:solidFill>
                <a:srgbClr val="242424"/>
              </a:solidFill>
              <a:latin typeface="Calibri"/>
              <a:ea typeface="Calibri"/>
              <a:cs typeface="Calibri"/>
            </a:endParaRPr>
          </a:p>
          <a:p>
            <a:endParaRPr lang="en-US" sz="2400">
              <a:solidFill>
                <a:srgbClr val="242424"/>
              </a:solidFill>
              <a:latin typeface="Aptos Display"/>
              <a:ea typeface="Calibri"/>
              <a:cs typeface="Calibri"/>
            </a:endParaRPr>
          </a:p>
          <a:p>
            <a:br>
              <a:rPr lang="en-US"/>
            </a:br>
            <a:endParaRPr lang="en-US" sz="2400">
              <a:ea typeface="Calibri"/>
              <a:cs typeface="Calibri"/>
            </a:endParaRPr>
          </a:p>
          <a:p>
            <a:endParaRPr lang="en-US" sz="2400">
              <a:latin typeface="Aptos Display"/>
              <a:ea typeface="Calibri"/>
              <a:cs typeface="Calibri"/>
            </a:endParaRPr>
          </a:p>
          <a:p>
            <a:endParaRPr lang="en-US" sz="2400">
              <a:latin typeface="Aptos Display"/>
              <a:ea typeface="Calibri"/>
              <a:cs typeface="Calibri"/>
            </a:endParaRPr>
          </a:p>
          <a:p>
            <a:pPr algn="ctr"/>
            <a:endParaRPr lang="en-US" sz="1500">
              <a:solidFill>
                <a:srgbClr val="242424"/>
              </a:solidFill>
              <a:ea typeface="+mn-lt"/>
              <a:cs typeface="+mn-lt"/>
            </a:endParaRPr>
          </a:p>
          <a:p>
            <a:pPr algn="ctr"/>
            <a:endParaRPr lang="en-US" sz="1500">
              <a:solidFill>
                <a:srgbClr val="242424"/>
              </a:solidFill>
              <a:ea typeface="+mn-lt"/>
              <a:cs typeface="+mn-lt"/>
            </a:endParaRPr>
          </a:p>
          <a:p>
            <a:pPr algn="ctr"/>
            <a:endParaRPr lang="en-US" sz="1500">
              <a:solidFill>
                <a:srgbClr val="242424"/>
              </a:solidFill>
              <a:ea typeface="+mn-lt"/>
              <a:cs typeface="+mn-lt"/>
            </a:endParaRPr>
          </a:p>
          <a:p>
            <a:pPr algn="ctr"/>
            <a:endParaRPr lang="en-US" sz="1500">
              <a:solidFill>
                <a:srgbClr val="242424"/>
              </a:solidFill>
              <a:ea typeface="+mn-lt"/>
              <a:cs typeface="+mn-lt"/>
            </a:endParaRPr>
          </a:p>
          <a:p>
            <a:pPr algn="ctr"/>
            <a:endParaRPr lang="en-US" sz="1500">
              <a:solidFill>
                <a:srgbClr val="242424"/>
              </a:solidFill>
              <a:ea typeface="+mn-lt"/>
              <a:cs typeface="+mn-lt"/>
            </a:endParaRPr>
          </a:p>
          <a:p>
            <a:pPr algn="ctr"/>
            <a:r>
              <a:rPr lang="en-US" sz="3200">
                <a:solidFill>
                  <a:srgbClr val="242424"/>
                </a:solidFill>
                <a:ea typeface="+mn-lt"/>
                <a:cs typeface="+mn-lt"/>
              </a:rPr>
              <a:t>Copy the </a:t>
            </a:r>
            <a:r>
              <a:rPr lang="en-US" sz="3200" err="1">
                <a:solidFill>
                  <a:srgbClr val="242424"/>
                </a:solidFill>
                <a:ea typeface="+mn-lt"/>
                <a:cs typeface="+mn-lt"/>
              </a:rPr>
              <a:t>ip</a:t>
            </a:r>
            <a:r>
              <a:rPr lang="en-US" sz="3200">
                <a:solidFill>
                  <a:srgbClr val="242424"/>
                </a:solidFill>
                <a:ea typeface="+mn-lt"/>
                <a:cs typeface="+mn-lt"/>
              </a:rPr>
              <a:t> address and paste it on a browser. Add the port number to the </a:t>
            </a:r>
            <a:r>
              <a:rPr lang="en-US" sz="3200" err="1">
                <a:solidFill>
                  <a:srgbClr val="242424"/>
                </a:solidFill>
                <a:ea typeface="+mn-lt"/>
                <a:cs typeface="+mn-lt"/>
              </a:rPr>
              <a:t>ip</a:t>
            </a:r>
            <a:r>
              <a:rPr lang="en-US" sz="3200">
                <a:solidFill>
                  <a:srgbClr val="242424"/>
                </a:solidFill>
                <a:ea typeface="+mn-lt"/>
                <a:cs typeface="+mn-lt"/>
              </a:rPr>
              <a:t> address. The app loads on the browser</a:t>
            </a:r>
            <a:endParaRPr lang="en-US" sz="3200">
              <a:ea typeface="Calibri"/>
              <a:cs typeface="Calibri"/>
            </a:endParaRPr>
          </a:p>
        </p:txBody>
      </p:sp>
      <p:pic>
        <p:nvPicPr>
          <p:cNvPr id="5" name="Picture 4" descr="A screenshot of a computer&#10;&#10;AI-generated content may be incorrect.">
            <a:extLst>
              <a:ext uri="{FF2B5EF4-FFF2-40B4-BE49-F238E27FC236}">
                <a16:creationId xmlns:a16="http://schemas.microsoft.com/office/drawing/2014/main" id="{0EEE5966-D1B0-41BD-8063-7541D19302B4}"/>
              </a:ext>
            </a:extLst>
          </p:cNvPr>
          <p:cNvPicPr>
            <a:picLocks noChangeAspect="1"/>
          </p:cNvPicPr>
          <p:nvPr/>
        </p:nvPicPr>
        <p:blipFill>
          <a:blip r:embed="rId2"/>
          <a:stretch>
            <a:fillRect/>
          </a:stretch>
        </p:blipFill>
        <p:spPr>
          <a:xfrm>
            <a:off x="432027" y="2113870"/>
            <a:ext cx="11763375" cy="2276475"/>
          </a:xfrm>
          <a:prstGeom prst="rect">
            <a:avLst/>
          </a:prstGeom>
        </p:spPr>
      </p:pic>
    </p:spTree>
    <p:extLst>
      <p:ext uri="{BB962C8B-B14F-4D97-AF65-F5344CB8AC3E}">
        <p14:creationId xmlns:p14="http://schemas.microsoft.com/office/powerpoint/2010/main" val="3826047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31E5-A290-BC24-3F26-AEEE293D51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BA56D3-9C15-25BC-6C4B-D84376997CA7}"/>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29</a:t>
            </a:fld>
            <a:endParaRPr spc="-25"/>
          </a:p>
        </p:txBody>
      </p:sp>
      <p:pic>
        <p:nvPicPr>
          <p:cNvPr id="5" name="Picture 4" descr="A screenshot of a computer&#10;&#10;AI-generated content may be incorrect.">
            <a:extLst>
              <a:ext uri="{FF2B5EF4-FFF2-40B4-BE49-F238E27FC236}">
                <a16:creationId xmlns:a16="http://schemas.microsoft.com/office/drawing/2014/main" id="{7F624489-DF01-DEE0-B060-DB89BB181866}"/>
              </a:ext>
            </a:extLst>
          </p:cNvPr>
          <p:cNvPicPr>
            <a:picLocks noChangeAspect="1"/>
          </p:cNvPicPr>
          <p:nvPr/>
        </p:nvPicPr>
        <p:blipFill>
          <a:blip r:embed="rId2"/>
          <a:stretch>
            <a:fillRect/>
          </a:stretch>
        </p:blipFill>
        <p:spPr>
          <a:xfrm>
            <a:off x="27214" y="5442"/>
            <a:ext cx="5429251" cy="2656115"/>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7AD97EB5-7191-D7AB-E225-ADE25942EDD7}"/>
              </a:ext>
            </a:extLst>
          </p:cNvPr>
          <p:cNvPicPr>
            <a:picLocks noChangeAspect="1"/>
          </p:cNvPicPr>
          <p:nvPr/>
        </p:nvPicPr>
        <p:blipFill>
          <a:blip r:embed="rId3"/>
          <a:stretch>
            <a:fillRect/>
          </a:stretch>
        </p:blipFill>
        <p:spPr>
          <a:xfrm>
            <a:off x="13608" y="3020241"/>
            <a:ext cx="5225143" cy="288580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70BA3436-54DB-F1D5-7ECA-F59FF829E77E}"/>
              </a:ext>
            </a:extLst>
          </p:cNvPr>
          <p:cNvPicPr>
            <a:picLocks noChangeAspect="1"/>
          </p:cNvPicPr>
          <p:nvPr/>
        </p:nvPicPr>
        <p:blipFill>
          <a:blip r:embed="rId4"/>
          <a:stretch>
            <a:fillRect/>
          </a:stretch>
        </p:blipFill>
        <p:spPr>
          <a:xfrm>
            <a:off x="5456465" y="3027861"/>
            <a:ext cx="6735536" cy="288417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9EE88454-29D0-BC70-9E40-738701C64842}"/>
              </a:ext>
            </a:extLst>
          </p:cNvPr>
          <p:cNvPicPr>
            <a:picLocks noChangeAspect="1"/>
          </p:cNvPicPr>
          <p:nvPr/>
        </p:nvPicPr>
        <p:blipFill>
          <a:blip r:embed="rId5"/>
          <a:stretch>
            <a:fillRect/>
          </a:stretch>
        </p:blipFill>
        <p:spPr>
          <a:xfrm>
            <a:off x="5684384" y="6123"/>
            <a:ext cx="5980340" cy="2967718"/>
          </a:xfrm>
          <a:prstGeom prst="rect">
            <a:avLst/>
          </a:prstGeom>
        </p:spPr>
      </p:pic>
    </p:spTree>
    <p:extLst>
      <p:ext uri="{BB962C8B-B14F-4D97-AF65-F5344CB8AC3E}">
        <p14:creationId xmlns:p14="http://schemas.microsoft.com/office/powerpoint/2010/main" val="155891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D5B5-75AC-6AB4-9526-CD9FC1453A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0891F-D40B-2423-7229-FFF93A0F0E49}"/>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RESULTS AND ANALYSIS</a:t>
            </a:r>
          </a:p>
        </p:txBody>
      </p:sp>
      <p:sp>
        <p:nvSpPr>
          <p:cNvPr id="4" name="object 4">
            <a:extLst>
              <a:ext uri="{FF2B5EF4-FFF2-40B4-BE49-F238E27FC236}">
                <a16:creationId xmlns:a16="http://schemas.microsoft.com/office/drawing/2014/main" id="{C6B3115A-0D8F-BAA7-70F0-6116C2DBE6DB}"/>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30</a:t>
            </a:fld>
            <a:endParaRPr spc="-25"/>
          </a:p>
        </p:txBody>
      </p:sp>
      <p:graphicFrame>
        <p:nvGraphicFramePr>
          <p:cNvPr id="7" name="Table 6">
            <a:extLst>
              <a:ext uri="{FF2B5EF4-FFF2-40B4-BE49-F238E27FC236}">
                <a16:creationId xmlns:a16="http://schemas.microsoft.com/office/drawing/2014/main" id="{83FF4687-E6C9-8948-0667-A2A1D3BAFE23}"/>
              </a:ext>
            </a:extLst>
          </p:cNvPr>
          <p:cNvGraphicFramePr>
            <a:graphicFrameLocks noGrp="1"/>
          </p:cNvGraphicFramePr>
          <p:nvPr>
            <p:extLst>
              <p:ext uri="{D42A27DB-BD31-4B8C-83A1-F6EECF244321}">
                <p14:modId xmlns:p14="http://schemas.microsoft.com/office/powerpoint/2010/main" val="2746362110"/>
              </p:ext>
            </p:extLst>
          </p:nvPr>
        </p:nvGraphicFramePr>
        <p:xfrm>
          <a:off x="149679" y="1462496"/>
          <a:ext cx="11619810" cy="2926080"/>
        </p:xfrm>
        <a:graphic>
          <a:graphicData uri="http://schemas.openxmlformats.org/drawingml/2006/table">
            <a:tbl>
              <a:tblPr bandRow="1">
                <a:tableStyleId>{8FD4443E-F989-4FC4-A0C8-D5A2AF1F390B}</a:tableStyleId>
              </a:tblPr>
              <a:tblGrid>
                <a:gridCol w="3873270">
                  <a:extLst>
                    <a:ext uri="{9D8B030D-6E8A-4147-A177-3AD203B41FA5}">
                      <a16:colId xmlns:a16="http://schemas.microsoft.com/office/drawing/2014/main" val="3731076103"/>
                    </a:ext>
                  </a:extLst>
                </a:gridCol>
                <a:gridCol w="3873270">
                  <a:extLst>
                    <a:ext uri="{9D8B030D-6E8A-4147-A177-3AD203B41FA5}">
                      <a16:colId xmlns:a16="http://schemas.microsoft.com/office/drawing/2014/main" val="1149771975"/>
                    </a:ext>
                  </a:extLst>
                </a:gridCol>
                <a:gridCol w="3873270">
                  <a:extLst>
                    <a:ext uri="{9D8B030D-6E8A-4147-A177-3AD203B41FA5}">
                      <a16:colId xmlns:a16="http://schemas.microsoft.com/office/drawing/2014/main" val="531088413"/>
                    </a:ext>
                  </a:extLst>
                </a:gridCol>
              </a:tblGrid>
              <a:tr h="333147">
                <a:tc>
                  <a:txBody>
                    <a:bodyPr/>
                    <a:lstStyle/>
                    <a:p>
                      <a:pPr algn="l">
                        <a:buNone/>
                      </a:pPr>
                      <a:r>
                        <a:rPr lang="en-US"/>
                        <a:t>Metric</a:t>
                      </a:r>
                    </a:p>
                  </a:txBody>
                  <a:tcPr anchor="ctr"/>
                </a:tc>
                <a:tc>
                  <a:txBody>
                    <a:bodyPr/>
                    <a:lstStyle/>
                    <a:p>
                      <a:pPr algn="ctr">
                        <a:buNone/>
                      </a:pPr>
                      <a:r>
                        <a:rPr lang="en-US"/>
                        <a:t>Non-Parallel</a:t>
                      </a:r>
                    </a:p>
                  </a:txBody>
                  <a:tcPr anchor="ctr"/>
                </a:tc>
                <a:tc>
                  <a:txBody>
                    <a:bodyPr/>
                    <a:lstStyle/>
                    <a:p>
                      <a:pPr algn="ctr">
                        <a:buNone/>
                      </a:pPr>
                      <a:r>
                        <a:rPr lang="en-US"/>
                        <a:t>Parallel (MPI)</a:t>
                      </a:r>
                    </a:p>
                  </a:txBody>
                  <a:tcPr anchor="ctr"/>
                </a:tc>
                <a:extLst>
                  <a:ext uri="{0D108BD9-81ED-4DB2-BD59-A6C34878D82A}">
                    <a16:rowId xmlns:a16="http://schemas.microsoft.com/office/drawing/2014/main" val="3795166520"/>
                  </a:ext>
                </a:extLst>
              </a:tr>
              <a:tr h="333147">
                <a:tc>
                  <a:txBody>
                    <a:bodyPr/>
                    <a:lstStyle/>
                    <a:p>
                      <a:pPr algn="l">
                        <a:buNone/>
                      </a:pPr>
                      <a:r>
                        <a:rPr lang="en-US"/>
                        <a:t>Total Training Time (s)</a:t>
                      </a:r>
                    </a:p>
                  </a:txBody>
                  <a:tcPr anchor="ctr"/>
                </a:tc>
                <a:tc>
                  <a:txBody>
                    <a:bodyPr/>
                    <a:lstStyle/>
                    <a:p>
                      <a:pPr algn="ctr">
                        <a:buNone/>
                      </a:pPr>
                      <a:r>
                        <a:rPr lang="en-US"/>
                        <a:t>3117.43</a:t>
                      </a:r>
                    </a:p>
                  </a:txBody>
                  <a:tcPr anchor="ctr"/>
                </a:tc>
                <a:tc>
                  <a:txBody>
                    <a:bodyPr/>
                    <a:lstStyle/>
                    <a:p>
                      <a:pPr algn="ctr">
                        <a:buNone/>
                      </a:pPr>
                      <a:r>
                        <a:rPr lang="en-US"/>
                        <a:t>3468.29</a:t>
                      </a:r>
                    </a:p>
                  </a:txBody>
                  <a:tcPr anchor="ctr"/>
                </a:tc>
                <a:extLst>
                  <a:ext uri="{0D108BD9-81ED-4DB2-BD59-A6C34878D82A}">
                    <a16:rowId xmlns:a16="http://schemas.microsoft.com/office/drawing/2014/main" val="3769737071"/>
                  </a:ext>
                </a:extLst>
              </a:tr>
              <a:tr h="333147">
                <a:tc>
                  <a:txBody>
                    <a:bodyPr/>
                    <a:lstStyle/>
                    <a:p>
                      <a:pPr algn="l">
                        <a:buNone/>
                      </a:pPr>
                      <a:r>
                        <a:rPr lang="en-US"/>
                        <a:t>Validation Accuracy</a:t>
                      </a:r>
                    </a:p>
                  </a:txBody>
                  <a:tcPr anchor="ctr"/>
                </a:tc>
                <a:tc>
                  <a:txBody>
                    <a:bodyPr/>
                    <a:lstStyle/>
                    <a:p>
                      <a:pPr algn="ctr">
                        <a:buNone/>
                      </a:pPr>
                      <a:r>
                        <a:rPr lang="en-US"/>
                        <a:t>0.9321</a:t>
                      </a:r>
                    </a:p>
                  </a:txBody>
                  <a:tcPr anchor="ctr"/>
                </a:tc>
                <a:tc>
                  <a:txBody>
                    <a:bodyPr/>
                    <a:lstStyle/>
                    <a:p>
                      <a:pPr algn="ctr">
                        <a:buNone/>
                      </a:pPr>
                      <a:r>
                        <a:rPr lang="en-US"/>
                        <a:t>0.9095</a:t>
                      </a:r>
                    </a:p>
                  </a:txBody>
                  <a:tcPr anchor="ctr"/>
                </a:tc>
                <a:extLst>
                  <a:ext uri="{0D108BD9-81ED-4DB2-BD59-A6C34878D82A}">
                    <a16:rowId xmlns:a16="http://schemas.microsoft.com/office/drawing/2014/main" val="2632886846"/>
                  </a:ext>
                </a:extLst>
              </a:tr>
              <a:tr h="333147">
                <a:tc>
                  <a:txBody>
                    <a:bodyPr/>
                    <a:lstStyle/>
                    <a:p>
                      <a:pPr algn="l">
                        <a:buNone/>
                      </a:pPr>
                      <a:r>
                        <a:rPr lang="en-US"/>
                        <a:t>Test Accuracy</a:t>
                      </a:r>
                    </a:p>
                  </a:txBody>
                  <a:tcPr anchor="ctr"/>
                </a:tc>
                <a:tc>
                  <a:txBody>
                    <a:bodyPr/>
                    <a:lstStyle/>
                    <a:p>
                      <a:pPr algn="ctr">
                        <a:buNone/>
                      </a:pPr>
                      <a:r>
                        <a:rPr lang="en-US"/>
                        <a:t>0.9446</a:t>
                      </a:r>
                    </a:p>
                  </a:txBody>
                  <a:tcPr anchor="ctr"/>
                </a:tc>
                <a:tc>
                  <a:txBody>
                    <a:bodyPr/>
                    <a:lstStyle/>
                    <a:p>
                      <a:pPr algn="ctr">
                        <a:buNone/>
                      </a:pPr>
                      <a:r>
                        <a:rPr lang="en-US"/>
                        <a:t>0.9055</a:t>
                      </a:r>
                    </a:p>
                  </a:txBody>
                  <a:tcPr anchor="ctr"/>
                </a:tc>
                <a:extLst>
                  <a:ext uri="{0D108BD9-81ED-4DB2-BD59-A6C34878D82A}">
                    <a16:rowId xmlns:a16="http://schemas.microsoft.com/office/drawing/2014/main" val="525020153"/>
                  </a:ext>
                </a:extLst>
              </a:tr>
              <a:tr h="333147">
                <a:tc>
                  <a:txBody>
                    <a:bodyPr/>
                    <a:lstStyle/>
                    <a:p>
                      <a:pPr algn="l">
                        <a:buNone/>
                      </a:pPr>
                      <a:r>
                        <a:rPr lang="en-US"/>
                        <a:t>Validation Loss</a:t>
                      </a:r>
                    </a:p>
                  </a:txBody>
                  <a:tcPr anchor="ctr"/>
                </a:tc>
                <a:tc>
                  <a:txBody>
                    <a:bodyPr/>
                    <a:lstStyle/>
                    <a:p>
                      <a:pPr algn="ctr">
                        <a:buNone/>
                      </a:pPr>
                      <a:r>
                        <a:rPr lang="en-US"/>
                        <a:t>0.2055</a:t>
                      </a:r>
                    </a:p>
                  </a:txBody>
                  <a:tcPr anchor="ctr"/>
                </a:tc>
                <a:tc>
                  <a:txBody>
                    <a:bodyPr/>
                    <a:lstStyle/>
                    <a:p>
                      <a:pPr algn="ctr">
                        <a:buNone/>
                      </a:pPr>
                      <a:r>
                        <a:rPr lang="en-US"/>
                        <a:t>0.2752</a:t>
                      </a:r>
                    </a:p>
                  </a:txBody>
                  <a:tcPr anchor="ctr"/>
                </a:tc>
                <a:extLst>
                  <a:ext uri="{0D108BD9-81ED-4DB2-BD59-A6C34878D82A}">
                    <a16:rowId xmlns:a16="http://schemas.microsoft.com/office/drawing/2014/main" val="3693180221"/>
                  </a:ext>
                </a:extLst>
              </a:tr>
              <a:tr h="333147">
                <a:tc>
                  <a:txBody>
                    <a:bodyPr/>
                    <a:lstStyle/>
                    <a:p>
                      <a:pPr algn="l">
                        <a:buNone/>
                      </a:pPr>
                      <a:r>
                        <a:rPr lang="en-US"/>
                        <a:t>Test Loss</a:t>
                      </a:r>
                    </a:p>
                  </a:txBody>
                  <a:tcPr anchor="ctr"/>
                </a:tc>
                <a:tc>
                  <a:txBody>
                    <a:bodyPr/>
                    <a:lstStyle/>
                    <a:p>
                      <a:pPr algn="ctr">
                        <a:buNone/>
                      </a:pPr>
                      <a:r>
                        <a:rPr lang="en-US"/>
                        <a:t>0.1896</a:t>
                      </a:r>
                    </a:p>
                  </a:txBody>
                  <a:tcPr anchor="ctr"/>
                </a:tc>
                <a:tc>
                  <a:txBody>
                    <a:bodyPr/>
                    <a:lstStyle/>
                    <a:p>
                      <a:pPr algn="ctr">
                        <a:buNone/>
                      </a:pPr>
                      <a:r>
                        <a:rPr lang="en-US"/>
                        <a:t>0.2688</a:t>
                      </a:r>
                    </a:p>
                  </a:txBody>
                  <a:tcPr anchor="ctr"/>
                </a:tc>
                <a:extLst>
                  <a:ext uri="{0D108BD9-81ED-4DB2-BD59-A6C34878D82A}">
                    <a16:rowId xmlns:a16="http://schemas.microsoft.com/office/drawing/2014/main" val="1925846646"/>
                  </a:ext>
                </a:extLst>
              </a:tr>
              <a:tr h="333147">
                <a:tc>
                  <a:txBody>
                    <a:bodyPr/>
                    <a:lstStyle/>
                    <a:p>
                      <a:pPr algn="l">
                        <a:buNone/>
                      </a:pPr>
                      <a:r>
                        <a:rPr lang="en-US"/>
                        <a:t>Train Throughput (</a:t>
                      </a:r>
                      <a:r>
                        <a:rPr lang="en-US" err="1"/>
                        <a:t>img</a:t>
                      </a:r>
                      <a:r>
                        <a:rPr lang="en-US"/>
                        <a:t>/s)</a:t>
                      </a:r>
                    </a:p>
                  </a:txBody>
                  <a:tcPr anchor="ctr"/>
                </a:tc>
                <a:tc>
                  <a:txBody>
                    <a:bodyPr/>
                    <a:lstStyle/>
                    <a:p>
                      <a:pPr algn="ctr">
                        <a:buNone/>
                      </a:pPr>
                      <a:r>
                        <a:rPr lang="en-US"/>
                        <a:t>0.7278</a:t>
                      </a:r>
                    </a:p>
                  </a:txBody>
                  <a:tcPr anchor="ctr"/>
                </a:tc>
                <a:tc>
                  <a:txBody>
                    <a:bodyPr/>
                    <a:lstStyle/>
                    <a:p>
                      <a:pPr algn="ctr">
                        <a:buNone/>
                      </a:pPr>
                      <a:r>
                        <a:rPr lang="en-US"/>
                        <a:t>0.6542</a:t>
                      </a:r>
                    </a:p>
                  </a:txBody>
                  <a:tcPr anchor="ctr"/>
                </a:tc>
                <a:extLst>
                  <a:ext uri="{0D108BD9-81ED-4DB2-BD59-A6C34878D82A}">
                    <a16:rowId xmlns:a16="http://schemas.microsoft.com/office/drawing/2014/main" val="2538413192"/>
                  </a:ext>
                </a:extLst>
              </a:tr>
              <a:tr h="333147">
                <a:tc>
                  <a:txBody>
                    <a:bodyPr/>
                    <a:lstStyle/>
                    <a:p>
                      <a:pPr algn="l">
                        <a:buNone/>
                      </a:pPr>
                      <a:r>
                        <a:rPr lang="en-US"/>
                        <a:t>Test Throughput (</a:t>
                      </a:r>
                      <a:r>
                        <a:rPr lang="en-US" err="1"/>
                        <a:t>img</a:t>
                      </a:r>
                      <a:r>
                        <a:rPr lang="en-US"/>
                        <a:t>/s)</a:t>
                      </a:r>
                    </a:p>
                  </a:txBody>
                  <a:tcPr anchor="ctr"/>
                </a:tc>
                <a:tc>
                  <a:txBody>
                    <a:bodyPr/>
                    <a:lstStyle/>
                    <a:p>
                      <a:pPr algn="ctr">
                        <a:buNone/>
                      </a:pPr>
                      <a:r>
                        <a:rPr lang="en-US"/>
                        <a:t>47.00</a:t>
                      </a:r>
                    </a:p>
                  </a:txBody>
                  <a:tcPr anchor="ctr"/>
                </a:tc>
                <a:tc>
                  <a:txBody>
                    <a:bodyPr/>
                    <a:lstStyle/>
                    <a:p>
                      <a:pPr algn="ctr">
                        <a:buNone/>
                      </a:pPr>
                      <a:r>
                        <a:rPr lang="en-US"/>
                        <a:t>35.42</a:t>
                      </a:r>
                    </a:p>
                  </a:txBody>
                  <a:tcPr anchor="ctr"/>
                </a:tc>
                <a:extLst>
                  <a:ext uri="{0D108BD9-81ED-4DB2-BD59-A6C34878D82A}">
                    <a16:rowId xmlns:a16="http://schemas.microsoft.com/office/drawing/2014/main" val="2104255600"/>
                  </a:ext>
                </a:extLst>
              </a:tr>
            </a:tbl>
          </a:graphicData>
        </a:graphic>
      </p:graphicFrame>
      <p:sp>
        <p:nvSpPr>
          <p:cNvPr id="8" name="TextBox 7">
            <a:extLst>
              <a:ext uri="{FF2B5EF4-FFF2-40B4-BE49-F238E27FC236}">
                <a16:creationId xmlns:a16="http://schemas.microsoft.com/office/drawing/2014/main" id="{51CD61C4-A028-4C2B-6FDD-2089C98FB516}"/>
              </a:ext>
            </a:extLst>
          </p:cNvPr>
          <p:cNvSpPr txBox="1"/>
          <p:nvPr/>
        </p:nvSpPr>
        <p:spPr>
          <a:xfrm>
            <a:off x="1415143" y="4680857"/>
            <a:ext cx="915760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Parallelization slightly increased training time due to inter-process communication overhead, but maintained comparable accuracy and generalization performance.</a:t>
            </a:r>
          </a:p>
          <a:p>
            <a:pPr algn="ctr"/>
            <a:endParaRPr lang="en-US"/>
          </a:p>
        </p:txBody>
      </p:sp>
    </p:spTree>
    <p:extLst>
      <p:ext uri="{BB962C8B-B14F-4D97-AF65-F5344CB8AC3E}">
        <p14:creationId xmlns:p14="http://schemas.microsoft.com/office/powerpoint/2010/main" val="4146981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7D7A2-E59C-8ACC-55C9-450DA4019B6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9997D2-476A-B106-3691-334A08D2E6EF}"/>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RESULTS AND ANALYSIS</a:t>
            </a:r>
          </a:p>
        </p:txBody>
      </p:sp>
      <p:sp>
        <p:nvSpPr>
          <p:cNvPr id="4" name="object 4">
            <a:extLst>
              <a:ext uri="{FF2B5EF4-FFF2-40B4-BE49-F238E27FC236}">
                <a16:creationId xmlns:a16="http://schemas.microsoft.com/office/drawing/2014/main" id="{A1EE3FC8-058D-2D6F-081B-0CB8A2EEF94D}"/>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31</a:t>
            </a:fld>
            <a:endParaRPr spc="-25"/>
          </a:p>
        </p:txBody>
      </p:sp>
      <p:graphicFrame>
        <p:nvGraphicFramePr>
          <p:cNvPr id="6" name="Table 5">
            <a:extLst>
              <a:ext uri="{FF2B5EF4-FFF2-40B4-BE49-F238E27FC236}">
                <a16:creationId xmlns:a16="http://schemas.microsoft.com/office/drawing/2014/main" id="{1D8337BD-D061-52C6-895C-D54F1EB9DEFA}"/>
              </a:ext>
            </a:extLst>
          </p:cNvPr>
          <p:cNvGraphicFramePr>
            <a:graphicFrameLocks noGrp="1"/>
          </p:cNvGraphicFramePr>
          <p:nvPr>
            <p:extLst>
              <p:ext uri="{D42A27DB-BD31-4B8C-83A1-F6EECF244321}">
                <p14:modId xmlns:p14="http://schemas.microsoft.com/office/powerpoint/2010/main" val="2511336047"/>
              </p:ext>
            </p:extLst>
          </p:nvPr>
        </p:nvGraphicFramePr>
        <p:xfrm>
          <a:off x="326571" y="1619250"/>
          <a:ext cx="11311636" cy="3566160"/>
        </p:xfrm>
        <a:graphic>
          <a:graphicData uri="http://schemas.openxmlformats.org/drawingml/2006/table">
            <a:tbl>
              <a:tblPr bandRow="1">
                <a:tableStyleId>{8FD4443E-F989-4FC4-A0C8-D5A2AF1F390B}</a:tableStyleId>
              </a:tblPr>
              <a:tblGrid>
                <a:gridCol w="1615948">
                  <a:extLst>
                    <a:ext uri="{9D8B030D-6E8A-4147-A177-3AD203B41FA5}">
                      <a16:colId xmlns:a16="http://schemas.microsoft.com/office/drawing/2014/main" val="2396488079"/>
                    </a:ext>
                  </a:extLst>
                </a:gridCol>
                <a:gridCol w="1615948">
                  <a:extLst>
                    <a:ext uri="{9D8B030D-6E8A-4147-A177-3AD203B41FA5}">
                      <a16:colId xmlns:a16="http://schemas.microsoft.com/office/drawing/2014/main" val="2980385416"/>
                    </a:ext>
                  </a:extLst>
                </a:gridCol>
                <a:gridCol w="1615948">
                  <a:extLst>
                    <a:ext uri="{9D8B030D-6E8A-4147-A177-3AD203B41FA5}">
                      <a16:colId xmlns:a16="http://schemas.microsoft.com/office/drawing/2014/main" val="3657710371"/>
                    </a:ext>
                  </a:extLst>
                </a:gridCol>
                <a:gridCol w="1615948">
                  <a:extLst>
                    <a:ext uri="{9D8B030D-6E8A-4147-A177-3AD203B41FA5}">
                      <a16:colId xmlns:a16="http://schemas.microsoft.com/office/drawing/2014/main" val="1849363091"/>
                    </a:ext>
                  </a:extLst>
                </a:gridCol>
                <a:gridCol w="1615948">
                  <a:extLst>
                    <a:ext uri="{9D8B030D-6E8A-4147-A177-3AD203B41FA5}">
                      <a16:colId xmlns:a16="http://schemas.microsoft.com/office/drawing/2014/main" val="3129448740"/>
                    </a:ext>
                  </a:extLst>
                </a:gridCol>
                <a:gridCol w="1615948">
                  <a:extLst>
                    <a:ext uri="{9D8B030D-6E8A-4147-A177-3AD203B41FA5}">
                      <a16:colId xmlns:a16="http://schemas.microsoft.com/office/drawing/2014/main" val="1824213614"/>
                    </a:ext>
                  </a:extLst>
                </a:gridCol>
                <a:gridCol w="1615948">
                  <a:extLst>
                    <a:ext uri="{9D8B030D-6E8A-4147-A177-3AD203B41FA5}">
                      <a16:colId xmlns:a16="http://schemas.microsoft.com/office/drawing/2014/main" val="3687055602"/>
                    </a:ext>
                  </a:extLst>
                </a:gridCol>
              </a:tblGrid>
              <a:tr h="569634">
                <a:tc>
                  <a:txBody>
                    <a:bodyPr/>
                    <a:lstStyle/>
                    <a:p>
                      <a:pPr algn="l">
                        <a:buNone/>
                      </a:pPr>
                      <a:r>
                        <a:rPr lang="en-US"/>
                        <a:t>Class</a:t>
                      </a:r>
                    </a:p>
                  </a:txBody>
                  <a:tcPr anchor="ctr"/>
                </a:tc>
                <a:tc>
                  <a:txBody>
                    <a:bodyPr/>
                    <a:lstStyle/>
                    <a:p>
                      <a:pPr algn="ctr">
                        <a:buNone/>
                      </a:pPr>
                      <a:r>
                        <a:rPr lang="en-US"/>
                        <a:t>Precision (Non-Parallel)</a:t>
                      </a:r>
                    </a:p>
                  </a:txBody>
                  <a:tcPr anchor="ctr"/>
                </a:tc>
                <a:tc>
                  <a:txBody>
                    <a:bodyPr/>
                    <a:lstStyle/>
                    <a:p>
                      <a:pPr algn="ctr">
                        <a:buNone/>
                      </a:pPr>
                      <a:r>
                        <a:rPr lang="en-US"/>
                        <a:t>Recall (Non-Parallel)</a:t>
                      </a:r>
                    </a:p>
                  </a:txBody>
                  <a:tcPr anchor="ctr"/>
                </a:tc>
                <a:tc>
                  <a:txBody>
                    <a:bodyPr/>
                    <a:lstStyle/>
                    <a:p>
                      <a:pPr algn="ctr">
                        <a:buNone/>
                      </a:pPr>
                      <a:r>
                        <a:rPr lang="en-US"/>
                        <a:t>F1 (Non-Parallel)</a:t>
                      </a:r>
                    </a:p>
                  </a:txBody>
                  <a:tcPr anchor="ctr"/>
                </a:tc>
                <a:tc>
                  <a:txBody>
                    <a:bodyPr/>
                    <a:lstStyle/>
                    <a:p>
                      <a:pPr algn="ctr">
                        <a:buNone/>
                      </a:pPr>
                      <a:r>
                        <a:rPr lang="en-US"/>
                        <a:t>Precision (MPI)</a:t>
                      </a:r>
                    </a:p>
                  </a:txBody>
                  <a:tcPr anchor="ctr"/>
                </a:tc>
                <a:tc>
                  <a:txBody>
                    <a:bodyPr/>
                    <a:lstStyle/>
                    <a:p>
                      <a:pPr algn="ctr">
                        <a:buNone/>
                      </a:pPr>
                      <a:r>
                        <a:rPr lang="en-US"/>
                        <a:t>Recall (MPI)</a:t>
                      </a:r>
                    </a:p>
                  </a:txBody>
                  <a:tcPr anchor="ctr"/>
                </a:tc>
                <a:tc>
                  <a:txBody>
                    <a:bodyPr/>
                    <a:lstStyle/>
                    <a:p>
                      <a:pPr algn="ctr">
                        <a:buNone/>
                      </a:pPr>
                      <a:r>
                        <a:rPr lang="en-US"/>
                        <a:t>F1 (MPI)</a:t>
                      </a:r>
                    </a:p>
                  </a:txBody>
                  <a:tcPr anchor="ctr"/>
                </a:tc>
                <a:extLst>
                  <a:ext uri="{0D108BD9-81ED-4DB2-BD59-A6C34878D82A}">
                    <a16:rowId xmlns:a16="http://schemas.microsoft.com/office/drawing/2014/main" val="1742439193"/>
                  </a:ext>
                </a:extLst>
              </a:tr>
              <a:tr h="325504">
                <a:tc>
                  <a:txBody>
                    <a:bodyPr/>
                    <a:lstStyle/>
                    <a:p>
                      <a:pPr algn="l">
                        <a:buNone/>
                      </a:pPr>
                      <a:r>
                        <a:rPr lang="en-US"/>
                        <a:t>Benign</a:t>
                      </a:r>
                    </a:p>
                  </a:txBody>
                  <a:tcPr anchor="ctr"/>
                </a:tc>
                <a:tc>
                  <a:txBody>
                    <a:bodyPr/>
                    <a:lstStyle/>
                    <a:p>
                      <a:pPr algn="ctr">
                        <a:buNone/>
                      </a:pPr>
                      <a:r>
                        <a:rPr lang="en-US"/>
                        <a:t>0.95</a:t>
                      </a:r>
                    </a:p>
                  </a:txBody>
                  <a:tcPr anchor="ctr"/>
                </a:tc>
                <a:tc>
                  <a:txBody>
                    <a:bodyPr/>
                    <a:lstStyle/>
                    <a:p>
                      <a:pPr algn="ctr">
                        <a:buNone/>
                      </a:pPr>
                      <a:r>
                        <a:rPr lang="en-US"/>
                        <a:t>0.63</a:t>
                      </a:r>
                    </a:p>
                  </a:txBody>
                  <a:tcPr anchor="ctr"/>
                </a:tc>
                <a:tc>
                  <a:txBody>
                    <a:bodyPr/>
                    <a:lstStyle/>
                    <a:p>
                      <a:pPr algn="ctr">
                        <a:buNone/>
                      </a:pPr>
                      <a:r>
                        <a:rPr lang="en-US"/>
                        <a:t>0.76</a:t>
                      </a:r>
                    </a:p>
                  </a:txBody>
                  <a:tcPr anchor="ctr"/>
                </a:tc>
                <a:tc>
                  <a:txBody>
                    <a:bodyPr/>
                    <a:lstStyle/>
                    <a:p>
                      <a:pPr algn="ctr">
                        <a:buNone/>
                      </a:pPr>
                      <a:r>
                        <a:rPr lang="en-US"/>
                        <a:t>0.85</a:t>
                      </a:r>
                    </a:p>
                  </a:txBody>
                  <a:tcPr anchor="ctr"/>
                </a:tc>
                <a:tc>
                  <a:txBody>
                    <a:bodyPr/>
                    <a:lstStyle/>
                    <a:p>
                      <a:pPr algn="ctr">
                        <a:buNone/>
                      </a:pPr>
                      <a:r>
                        <a:rPr lang="en-US"/>
                        <a:t>0.54</a:t>
                      </a:r>
                    </a:p>
                  </a:txBody>
                  <a:tcPr anchor="ctr"/>
                </a:tc>
                <a:tc>
                  <a:txBody>
                    <a:bodyPr/>
                    <a:lstStyle/>
                    <a:p>
                      <a:pPr algn="ctr">
                        <a:buNone/>
                      </a:pPr>
                      <a:r>
                        <a:rPr lang="en-US"/>
                        <a:t>0.66</a:t>
                      </a:r>
                    </a:p>
                  </a:txBody>
                  <a:tcPr anchor="ctr"/>
                </a:tc>
                <a:extLst>
                  <a:ext uri="{0D108BD9-81ED-4DB2-BD59-A6C34878D82A}">
                    <a16:rowId xmlns:a16="http://schemas.microsoft.com/office/drawing/2014/main" val="3116557963"/>
                  </a:ext>
                </a:extLst>
              </a:tr>
              <a:tr h="569634">
                <a:tc>
                  <a:txBody>
                    <a:bodyPr/>
                    <a:lstStyle/>
                    <a:p>
                      <a:pPr algn="l">
                        <a:buNone/>
                      </a:pPr>
                      <a:r>
                        <a:rPr lang="en-US"/>
                        <a:t>[Malignant] Pre-B</a:t>
                      </a:r>
                    </a:p>
                  </a:txBody>
                  <a:tcPr anchor="ctr"/>
                </a:tc>
                <a:tc>
                  <a:txBody>
                    <a:bodyPr/>
                    <a:lstStyle/>
                    <a:p>
                      <a:pPr algn="ctr">
                        <a:buNone/>
                      </a:pPr>
                      <a:r>
                        <a:rPr lang="en-US"/>
                        <a:t>0.99</a:t>
                      </a:r>
                    </a:p>
                  </a:txBody>
                  <a:tcPr anchor="ctr"/>
                </a:tc>
                <a:tc>
                  <a:txBody>
                    <a:bodyPr/>
                    <a:lstStyle/>
                    <a:p>
                      <a:pPr algn="ctr">
                        <a:buNone/>
                      </a:pPr>
                      <a:r>
                        <a:rPr lang="en-US"/>
                        <a:t>0.98</a:t>
                      </a:r>
                    </a:p>
                  </a:txBody>
                  <a:tcPr anchor="ctr"/>
                </a:tc>
                <a:tc>
                  <a:txBody>
                    <a:bodyPr/>
                    <a:lstStyle/>
                    <a:p>
                      <a:pPr algn="ctr">
                        <a:buNone/>
                      </a:pPr>
                      <a:r>
                        <a:rPr lang="en-US"/>
                        <a:t>0.98</a:t>
                      </a:r>
                    </a:p>
                  </a:txBody>
                  <a:tcPr anchor="ctr"/>
                </a:tc>
                <a:tc>
                  <a:txBody>
                    <a:bodyPr/>
                    <a:lstStyle/>
                    <a:p>
                      <a:pPr algn="ctr">
                        <a:buNone/>
                      </a:pPr>
                      <a:r>
                        <a:rPr lang="en-US"/>
                        <a:t>0.99</a:t>
                      </a:r>
                    </a:p>
                  </a:txBody>
                  <a:tcPr anchor="ctr"/>
                </a:tc>
                <a:tc>
                  <a:txBody>
                    <a:bodyPr/>
                    <a:lstStyle/>
                    <a:p>
                      <a:pPr algn="ctr">
                        <a:buNone/>
                      </a:pPr>
                      <a:r>
                        <a:rPr lang="en-US"/>
                        <a:t>0.93</a:t>
                      </a:r>
                    </a:p>
                  </a:txBody>
                  <a:tcPr anchor="ctr"/>
                </a:tc>
                <a:tc>
                  <a:txBody>
                    <a:bodyPr/>
                    <a:lstStyle/>
                    <a:p>
                      <a:pPr algn="ctr">
                        <a:buNone/>
                      </a:pPr>
                      <a:r>
                        <a:rPr lang="en-US"/>
                        <a:t>0.96</a:t>
                      </a:r>
                    </a:p>
                  </a:txBody>
                  <a:tcPr anchor="ctr"/>
                </a:tc>
                <a:extLst>
                  <a:ext uri="{0D108BD9-81ED-4DB2-BD59-A6C34878D82A}">
                    <a16:rowId xmlns:a16="http://schemas.microsoft.com/office/drawing/2014/main" val="4095523581"/>
                  </a:ext>
                </a:extLst>
              </a:tr>
              <a:tr h="569634">
                <a:tc>
                  <a:txBody>
                    <a:bodyPr/>
                    <a:lstStyle/>
                    <a:p>
                      <a:pPr algn="l">
                        <a:buNone/>
                      </a:pPr>
                      <a:r>
                        <a:rPr lang="en-US"/>
                        <a:t>[Malignant] Pro-B</a:t>
                      </a:r>
                    </a:p>
                  </a:txBody>
                  <a:tcPr anchor="ctr"/>
                </a:tc>
                <a:tc>
                  <a:txBody>
                    <a:bodyPr/>
                    <a:lstStyle/>
                    <a:p>
                      <a:pPr algn="ctr">
                        <a:buNone/>
                      </a:pPr>
                      <a:r>
                        <a:rPr lang="en-US"/>
                        <a:t>0.99</a:t>
                      </a:r>
                    </a:p>
                  </a:txBody>
                  <a:tcPr anchor="ctr"/>
                </a:tc>
                <a:tc>
                  <a:txBody>
                    <a:bodyPr/>
                    <a:lstStyle/>
                    <a:p>
                      <a:pPr algn="ctr">
                        <a:buNone/>
                      </a:pPr>
                      <a:r>
                        <a:rPr lang="en-US"/>
                        <a:t>1.00</a:t>
                      </a:r>
                    </a:p>
                  </a:txBody>
                  <a:tcPr anchor="ctr"/>
                </a:tc>
                <a:tc>
                  <a:txBody>
                    <a:bodyPr/>
                    <a:lstStyle/>
                    <a:p>
                      <a:pPr algn="ctr">
                        <a:buNone/>
                      </a:pPr>
                      <a:r>
                        <a:rPr lang="en-US"/>
                        <a:t>1.00</a:t>
                      </a:r>
                    </a:p>
                  </a:txBody>
                  <a:tcPr anchor="ctr"/>
                </a:tc>
                <a:tc>
                  <a:txBody>
                    <a:bodyPr/>
                    <a:lstStyle/>
                    <a:p>
                      <a:pPr algn="ctr">
                        <a:buNone/>
                      </a:pPr>
                      <a:r>
                        <a:rPr lang="en-US"/>
                        <a:t>0.98</a:t>
                      </a:r>
                    </a:p>
                  </a:txBody>
                  <a:tcPr anchor="ctr"/>
                </a:tc>
                <a:tc>
                  <a:txBody>
                    <a:bodyPr/>
                    <a:lstStyle/>
                    <a:p>
                      <a:pPr algn="ctr">
                        <a:buNone/>
                      </a:pPr>
                      <a:r>
                        <a:rPr lang="en-US"/>
                        <a:t>0.99</a:t>
                      </a:r>
                    </a:p>
                  </a:txBody>
                  <a:tcPr anchor="ctr"/>
                </a:tc>
                <a:tc>
                  <a:txBody>
                    <a:bodyPr/>
                    <a:lstStyle/>
                    <a:p>
                      <a:pPr algn="ctr">
                        <a:buNone/>
                      </a:pPr>
                      <a:r>
                        <a:rPr lang="en-US"/>
                        <a:t>0.99</a:t>
                      </a:r>
                    </a:p>
                  </a:txBody>
                  <a:tcPr anchor="ctr"/>
                </a:tc>
                <a:extLst>
                  <a:ext uri="{0D108BD9-81ED-4DB2-BD59-A6C34878D82A}">
                    <a16:rowId xmlns:a16="http://schemas.microsoft.com/office/drawing/2014/main" val="1521436399"/>
                  </a:ext>
                </a:extLst>
              </a:tr>
              <a:tr h="569634">
                <a:tc>
                  <a:txBody>
                    <a:bodyPr/>
                    <a:lstStyle/>
                    <a:p>
                      <a:pPr algn="l">
                        <a:buNone/>
                      </a:pPr>
                      <a:r>
                        <a:rPr lang="en-US"/>
                        <a:t>[Malignant] Early Pre-B</a:t>
                      </a:r>
                    </a:p>
                  </a:txBody>
                  <a:tcPr anchor="ctr"/>
                </a:tc>
                <a:tc>
                  <a:txBody>
                    <a:bodyPr/>
                    <a:lstStyle/>
                    <a:p>
                      <a:pPr algn="ctr">
                        <a:buNone/>
                      </a:pPr>
                      <a:r>
                        <a:rPr lang="en-US"/>
                        <a:t>0.87</a:t>
                      </a:r>
                    </a:p>
                  </a:txBody>
                  <a:tcPr anchor="ctr"/>
                </a:tc>
                <a:tc>
                  <a:txBody>
                    <a:bodyPr/>
                    <a:lstStyle/>
                    <a:p>
                      <a:pPr algn="ctr">
                        <a:buNone/>
                      </a:pPr>
                      <a:r>
                        <a:rPr lang="en-US"/>
                        <a:t>0.99</a:t>
                      </a:r>
                    </a:p>
                  </a:txBody>
                  <a:tcPr anchor="ctr"/>
                </a:tc>
                <a:tc>
                  <a:txBody>
                    <a:bodyPr/>
                    <a:lstStyle/>
                    <a:p>
                      <a:pPr algn="ctr">
                        <a:buNone/>
                      </a:pPr>
                      <a:r>
                        <a:rPr lang="en-US"/>
                        <a:t>0.93</a:t>
                      </a:r>
                    </a:p>
                  </a:txBody>
                  <a:tcPr anchor="ctr"/>
                </a:tc>
                <a:tc>
                  <a:txBody>
                    <a:bodyPr/>
                    <a:lstStyle/>
                    <a:p>
                      <a:pPr algn="ctr">
                        <a:buNone/>
                      </a:pPr>
                      <a:r>
                        <a:rPr lang="en-US"/>
                        <a:t>0.80</a:t>
                      </a:r>
                    </a:p>
                  </a:txBody>
                  <a:tcPr anchor="ctr"/>
                </a:tc>
                <a:tc>
                  <a:txBody>
                    <a:bodyPr/>
                    <a:lstStyle/>
                    <a:p>
                      <a:pPr algn="ctr">
                        <a:buNone/>
                      </a:pPr>
                      <a:r>
                        <a:rPr lang="en-US"/>
                        <a:t>0.96</a:t>
                      </a:r>
                    </a:p>
                  </a:txBody>
                  <a:tcPr anchor="ctr"/>
                </a:tc>
                <a:tc>
                  <a:txBody>
                    <a:bodyPr/>
                    <a:lstStyle/>
                    <a:p>
                      <a:pPr algn="ctr">
                        <a:buNone/>
                      </a:pPr>
                      <a:r>
                        <a:rPr lang="en-US"/>
                        <a:t>0.88</a:t>
                      </a:r>
                    </a:p>
                  </a:txBody>
                  <a:tcPr anchor="ctr"/>
                </a:tc>
                <a:extLst>
                  <a:ext uri="{0D108BD9-81ED-4DB2-BD59-A6C34878D82A}">
                    <a16:rowId xmlns:a16="http://schemas.microsoft.com/office/drawing/2014/main" val="4104549228"/>
                  </a:ext>
                </a:extLst>
              </a:tr>
              <a:tr h="325504">
                <a:tc>
                  <a:txBody>
                    <a:bodyPr/>
                    <a:lstStyle/>
                    <a:p>
                      <a:pPr algn="l">
                        <a:buNone/>
                      </a:pPr>
                      <a:r>
                        <a:rPr lang="en-US"/>
                        <a:t>Overall Accuracy</a:t>
                      </a:r>
                    </a:p>
                  </a:txBody>
                  <a:tcPr anchor="ctr"/>
                </a:tc>
                <a:tc>
                  <a:txBody>
                    <a:bodyPr/>
                    <a:lstStyle/>
                    <a:p>
                      <a:pPr algn="ctr">
                        <a:buNone/>
                      </a:pPr>
                      <a:r>
                        <a:rPr lang="en-US"/>
                        <a:t>0.94</a:t>
                      </a:r>
                    </a:p>
                  </a:txBody>
                  <a:tcPr anchor="ctr"/>
                </a:tc>
                <a:tc>
                  <a:txBody>
                    <a:bodyPr/>
                    <a:lstStyle/>
                    <a:p>
                      <a:pPr algn="ctr">
                        <a:buNone/>
                      </a:pPr>
                      <a:endParaRPr lang="en-US"/>
                    </a:p>
                  </a:txBody>
                  <a:tcPr anchor="ctr"/>
                </a:tc>
                <a:tc>
                  <a:txBody>
                    <a:bodyPr/>
                    <a:lstStyle/>
                    <a:p>
                      <a:pPr algn="ctr">
                        <a:buNone/>
                      </a:pPr>
                      <a:endParaRPr lang="en-US"/>
                    </a:p>
                  </a:txBody>
                  <a:tcPr anchor="ctr"/>
                </a:tc>
                <a:tc>
                  <a:txBody>
                    <a:bodyPr/>
                    <a:lstStyle/>
                    <a:p>
                      <a:pPr algn="ctr">
                        <a:buNone/>
                      </a:pPr>
                      <a:r>
                        <a:rPr lang="en-US"/>
                        <a:t>0.91</a:t>
                      </a:r>
                    </a:p>
                  </a:txBody>
                  <a:tcPr anchor="ctr"/>
                </a:tc>
                <a:tc>
                  <a:txBody>
                    <a:bodyPr/>
                    <a:lstStyle/>
                    <a:p>
                      <a:pPr algn="ctr">
                        <a:buNone/>
                      </a:pPr>
                      <a:endParaRPr lang="en-US"/>
                    </a:p>
                  </a:txBody>
                  <a:tcPr anchor="ctr"/>
                </a:tc>
                <a:tc>
                  <a:txBody>
                    <a:bodyPr/>
                    <a:lstStyle/>
                    <a:p>
                      <a:pPr algn="ctr">
                        <a:buNone/>
                      </a:pPr>
                      <a:endParaRPr lang="en-US"/>
                    </a:p>
                  </a:txBody>
                  <a:tcPr anchor="ctr"/>
                </a:tc>
                <a:extLst>
                  <a:ext uri="{0D108BD9-81ED-4DB2-BD59-A6C34878D82A}">
                    <a16:rowId xmlns:a16="http://schemas.microsoft.com/office/drawing/2014/main" val="912847615"/>
                  </a:ext>
                </a:extLst>
              </a:tr>
            </a:tbl>
          </a:graphicData>
        </a:graphic>
      </p:graphicFrame>
      <p:sp>
        <p:nvSpPr>
          <p:cNvPr id="7" name="TextBox 6">
            <a:extLst>
              <a:ext uri="{FF2B5EF4-FFF2-40B4-BE49-F238E27FC236}">
                <a16:creationId xmlns:a16="http://schemas.microsoft.com/office/drawing/2014/main" id="{0A66839A-E712-BD8E-2049-300BC67CE543}"/>
              </a:ext>
            </a:extLst>
          </p:cNvPr>
          <p:cNvSpPr txBox="1"/>
          <p:nvPr/>
        </p:nvSpPr>
        <p:spPr>
          <a:xfrm>
            <a:off x="340179" y="5334000"/>
            <a:ext cx="112803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MPI model achieved slightly lower accuracy in benign class due to smaller batch distribution, but malignant detection remained strong.</a:t>
            </a:r>
          </a:p>
          <a:p>
            <a:pPr algn="ctr"/>
            <a:endParaRPr lang="en-US"/>
          </a:p>
        </p:txBody>
      </p:sp>
    </p:spTree>
    <p:extLst>
      <p:ext uri="{BB962C8B-B14F-4D97-AF65-F5344CB8AC3E}">
        <p14:creationId xmlns:p14="http://schemas.microsoft.com/office/powerpoint/2010/main" val="3392926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FF13-C42A-6482-0FA7-1E7CA4F3E8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09F77AD-0DA2-D2F4-F47B-D907C089C7FC}"/>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RESULTS AND ANALYSIS</a:t>
            </a:r>
          </a:p>
        </p:txBody>
      </p:sp>
      <p:sp>
        <p:nvSpPr>
          <p:cNvPr id="4" name="object 4">
            <a:extLst>
              <a:ext uri="{FF2B5EF4-FFF2-40B4-BE49-F238E27FC236}">
                <a16:creationId xmlns:a16="http://schemas.microsoft.com/office/drawing/2014/main" id="{554604A2-32C8-0C5A-5EB1-8C74583D897F}"/>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32</a:t>
            </a:fld>
            <a:endParaRPr spc="-25"/>
          </a:p>
        </p:txBody>
      </p:sp>
      <p:pic>
        <p:nvPicPr>
          <p:cNvPr id="3" name="Picture 2" descr="A graph with a line&#10;&#10;AI-generated content may be incorrect.">
            <a:extLst>
              <a:ext uri="{FF2B5EF4-FFF2-40B4-BE49-F238E27FC236}">
                <a16:creationId xmlns:a16="http://schemas.microsoft.com/office/drawing/2014/main" id="{8BD1A12B-8FF9-E649-954F-6E8BA8EE5F45}"/>
              </a:ext>
            </a:extLst>
          </p:cNvPr>
          <p:cNvPicPr>
            <a:picLocks noChangeAspect="1"/>
          </p:cNvPicPr>
          <p:nvPr/>
        </p:nvPicPr>
        <p:blipFill>
          <a:blip r:embed="rId2"/>
          <a:stretch>
            <a:fillRect/>
          </a:stretch>
        </p:blipFill>
        <p:spPr>
          <a:xfrm>
            <a:off x="2837770" y="1006249"/>
            <a:ext cx="5972175" cy="4410075"/>
          </a:xfrm>
          <a:prstGeom prst="rect">
            <a:avLst/>
          </a:prstGeom>
        </p:spPr>
      </p:pic>
      <p:sp>
        <p:nvSpPr>
          <p:cNvPr id="5" name="TextBox 4">
            <a:extLst>
              <a:ext uri="{FF2B5EF4-FFF2-40B4-BE49-F238E27FC236}">
                <a16:creationId xmlns:a16="http://schemas.microsoft.com/office/drawing/2014/main" id="{12826B3D-F578-513B-CF99-940EF14503CA}"/>
              </a:ext>
            </a:extLst>
          </p:cNvPr>
          <p:cNvSpPr txBox="1"/>
          <p:nvPr/>
        </p:nvSpPr>
        <p:spPr>
          <a:xfrm>
            <a:off x="1347107" y="5415642"/>
            <a:ext cx="914399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Since the experiment ran on only two CPU cores, the communication overhead dominated the computational gain  resulting in negligible speedup. Future scalability tests (on 4–8 cores) can show more benefit.</a:t>
            </a:r>
          </a:p>
          <a:p>
            <a:pPr algn="ctr"/>
            <a:endParaRPr lang="en-US"/>
          </a:p>
        </p:txBody>
      </p:sp>
    </p:spTree>
    <p:extLst>
      <p:ext uri="{BB962C8B-B14F-4D97-AF65-F5344CB8AC3E}">
        <p14:creationId xmlns:p14="http://schemas.microsoft.com/office/powerpoint/2010/main" val="2113853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BEE91-278E-EA9C-79A2-96D07085DA9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6C4E4BD-9528-A47D-3A3A-B01F210593FD}"/>
              </a:ext>
            </a:extLst>
          </p:cNvPr>
          <p:cNvSpPr txBox="1">
            <a:spLocks noGrp="1"/>
          </p:cNvSpPr>
          <p:nvPr>
            <p:ph type="title"/>
          </p:nvPr>
        </p:nvSpPr>
        <p:spPr>
          <a:xfrm>
            <a:off x="2022810" y="250096"/>
            <a:ext cx="8143875" cy="517525"/>
          </a:xfrm>
          <a:prstGeom prst="rect">
            <a:avLst/>
          </a:prstGeom>
        </p:spPr>
        <p:txBody>
          <a:bodyPr vert="horz" wrap="square" lIns="0" tIns="15875" rIns="0" bIns="0" rtlCol="0" anchor="t">
            <a:spAutoFit/>
          </a:bodyPr>
          <a:lstStyle/>
          <a:p>
            <a:pPr marL="12700" algn="ctr">
              <a:spcBef>
                <a:spcPts val="125"/>
              </a:spcBef>
            </a:pPr>
            <a:r>
              <a:rPr lang="en-US"/>
              <a:t>CONCLUSION</a:t>
            </a:r>
          </a:p>
        </p:txBody>
      </p:sp>
      <p:sp>
        <p:nvSpPr>
          <p:cNvPr id="4" name="object 4">
            <a:extLst>
              <a:ext uri="{FF2B5EF4-FFF2-40B4-BE49-F238E27FC236}">
                <a16:creationId xmlns:a16="http://schemas.microsoft.com/office/drawing/2014/main" id="{8A3EEADB-F0DE-6D5A-2ABF-08E61A0C672D}"/>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33</a:t>
            </a:fld>
            <a:endParaRPr spc="-25"/>
          </a:p>
        </p:txBody>
      </p:sp>
      <p:sp>
        <p:nvSpPr>
          <p:cNvPr id="3" name="TextBox 2">
            <a:extLst>
              <a:ext uri="{FF2B5EF4-FFF2-40B4-BE49-F238E27FC236}">
                <a16:creationId xmlns:a16="http://schemas.microsoft.com/office/drawing/2014/main" id="{F45334C0-DB9F-3DCB-5C04-FA2CA1EB85E3}"/>
              </a:ext>
            </a:extLst>
          </p:cNvPr>
          <p:cNvSpPr txBox="1"/>
          <p:nvPr/>
        </p:nvSpPr>
        <p:spPr>
          <a:xfrm>
            <a:off x="175130" y="1021594"/>
            <a:ext cx="11908872" cy="52904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3E33D28D-234A-30D1-8B00-67CC2CD77A8E}"/>
              </a:ext>
            </a:extLst>
          </p:cNvPr>
          <p:cNvSpPr txBox="1"/>
          <p:nvPr/>
        </p:nvSpPr>
        <p:spPr>
          <a:xfrm>
            <a:off x="136072" y="1034144"/>
            <a:ext cx="11906249"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Successfully implemented data parallelism using MPI to train a CNN on a 3,242-image blood cancer dataset (4 classes).</a:t>
            </a:r>
            <a:endParaRPr lang="en-US" sz="2400">
              <a:ea typeface="Calibri"/>
              <a:cs typeface="Calibri"/>
            </a:endParaRPr>
          </a:p>
          <a:p>
            <a:r>
              <a:rPr lang="en-US" sz="2400"/>
              <a:t>Although parallelism added communication overhead, the model achieved similar accuracy as the non-parallel version.</a:t>
            </a:r>
            <a:endParaRPr lang="en-US" sz="2400">
              <a:ea typeface="Calibri"/>
              <a:cs typeface="Calibri"/>
            </a:endParaRPr>
          </a:p>
          <a:p>
            <a:r>
              <a:rPr lang="en-US" sz="2400"/>
              <a:t>The speedup remained 1.0 since inter-process communication cost outweighed computation benefits at small scale.</a:t>
            </a:r>
            <a:endParaRPr lang="en-US" sz="2400">
              <a:ea typeface="Calibri"/>
              <a:cs typeface="Calibri"/>
            </a:endParaRPr>
          </a:p>
          <a:p>
            <a:r>
              <a:rPr lang="en-US" sz="2400"/>
              <a:t>The trained model was effectively containerized using Docker with an Nginx web interface for real-time image prediction.</a:t>
            </a:r>
            <a:endParaRPr lang="en-US" sz="2400">
              <a:ea typeface="Calibri"/>
              <a:cs typeface="Calibri"/>
            </a:endParaRPr>
          </a:p>
          <a:p>
            <a:r>
              <a:rPr lang="en-US" sz="2400"/>
              <a:t>The Docker image was uploaded to AWS ECR (Elastic Container Registry)  successfully.</a:t>
            </a:r>
            <a:endParaRPr lang="en-US" sz="2400">
              <a:ea typeface="Calibri"/>
              <a:cs typeface="Calibri"/>
            </a:endParaRPr>
          </a:p>
          <a:p>
            <a:r>
              <a:rPr lang="en-US" sz="2400"/>
              <a:t>The model was successfully deployed via AWS ECS Fargate, enabling scalable, cloud-based inference.</a:t>
            </a:r>
            <a:endParaRPr lang="en-US" sz="2400">
              <a:ea typeface="Calibri"/>
              <a:cs typeface="Calibri"/>
            </a:endParaRPr>
          </a:p>
          <a:p>
            <a:r>
              <a:rPr lang="en-US" sz="2400"/>
              <a:t>The workflow demonstrates the complete pipeline  from parallel training to cloud deployment.</a:t>
            </a:r>
            <a:endParaRPr lang="en-US" sz="2400">
              <a:ea typeface="Calibri"/>
              <a:cs typeface="Calibri"/>
            </a:endParaRPr>
          </a:p>
          <a:p>
            <a:pPr algn="ctr"/>
            <a:endParaRPr lang="en-US" sz="2400">
              <a:ea typeface="Calibri"/>
              <a:cs typeface="Calibri"/>
            </a:endParaRPr>
          </a:p>
        </p:txBody>
      </p:sp>
    </p:spTree>
    <p:extLst>
      <p:ext uri="{BB962C8B-B14F-4D97-AF65-F5344CB8AC3E}">
        <p14:creationId xmlns:p14="http://schemas.microsoft.com/office/powerpoint/2010/main" val="34488659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46BF2-9024-89E2-A303-2E4F8B802F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8F38F4-1FAC-296A-365A-0AE9BBFFAE06}"/>
              </a:ext>
            </a:extLst>
          </p:cNvPr>
          <p:cNvSpPr txBox="1">
            <a:spLocks noGrp="1"/>
          </p:cNvSpPr>
          <p:nvPr>
            <p:ph type="sldNum" sz="quarter" idx="7"/>
          </p:nvPr>
        </p:nvSpPr>
        <p:spPr>
          <a:prstGeom prst="rect">
            <a:avLst/>
          </a:prstGeom>
        </p:spPr>
        <p:txBody>
          <a:bodyPr vert="horz" wrap="square" lIns="0" tIns="6350" rIns="0" bIns="0" rtlCol="0">
            <a:spAutoFit/>
          </a:bodyPr>
          <a:lstStyle/>
          <a:p>
            <a:pPr marL="12700">
              <a:lnSpc>
                <a:spcPct val="100000"/>
              </a:lnSpc>
              <a:spcBef>
                <a:spcPts val="50"/>
              </a:spcBef>
            </a:pPr>
            <a:fld id="{81D60167-4931-47E6-BA6A-407CBD079E47}" type="slidenum">
              <a:rPr spc="-25" dirty="0"/>
              <a:t>34</a:t>
            </a:fld>
            <a:endParaRPr spc="-25"/>
          </a:p>
        </p:txBody>
      </p:sp>
      <p:sp>
        <p:nvSpPr>
          <p:cNvPr id="2" name="TextBox 1">
            <a:extLst>
              <a:ext uri="{FF2B5EF4-FFF2-40B4-BE49-F238E27FC236}">
                <a16:creationId xmlns:a16="http://schemas.microsoft.com/office/drawing/2014/main" id="{1F17EB7A-2F4E-92CA-7BD3-48C7309B37C0}"/>
              </a:ext>
            </a:extLst>
          </p:cNvPr>
          <p:cNvSpPr txBox="1"/>
          <p:nvPr/>
        </p:nvSpPr>
        <p:spPr>
          <a:xfrm>
            <a:off x="2427341" y="2383270"/>
            <a:ext cx="826531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a:solidFill>
                  <a:srgbClr val="A3123E"/>
                </a:solidFill>
                <a:latin typeface="Times New Roman"/>
                <a:cs typeface="Times New Roman"/>
              </a:rPr>
              <a:t>THANK YOU</a:t>
            </a:r>
            <a:r>
              <a:rPr lang="en-GB" sz="9600">
                <a:solidFill>
                  <a:srgbClr val="A3123E"/>
                </a:solidFill>
                <a:latin typeface="Times New Roman"/>
                <a:cs typeface="Times New Roman"/>
              </a:rPr>
              <a:t>  </a:t>
            </a:r>
            <a:endParaRPr lang="en-US" sz="9600">
              <a:solidFill>
                <a:srgbClr val="A3123E"/>
              </a:solidFill>
              <a:latin typeface="Times New Roman"/>
              <a:ea typeface="Calibri"/>
              <a:cs typeface="Times New Roman"/>
            </a:endParaRPr>
          </a:p>
        </p:txBody>
      </p:sp>
    </p:spTree>
    <p:extLst>
      <p:ext uri="{BB962C8B-B14F-4D97-AF65-F5344CB8AC3E}">
        <p14:creationId xmlns:p14="http://schemas.microsoft.com/office/powerpoint/2010/main" val="4165088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e9601a0-740a-4540-ae2c-08d70eaa164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D55DAB5EF2644A8A41D6D299B4B93C" ma:contentTypeVersion="10" ma:contentTypeDescription="Create a new document." ma:contentTypeScope="" ma:versionID="3ab1f7432d2ba50bc86ef6ad061062d0">
  <xsd:schema xmlns:xsd="http://www.w3.org/2001/XMLSchema" xmlns:xs="http://www.w3.org/2001/XMLSchema" xmlns:p="http://schemas.microsoft.com/office/2006/metadata/properties" xmlns:ns3="ae9601a0-740a-4540-ae2c-08d70eaa164d" targetNamespace="http://schemas.microsoft.com/office/2006/metadata/properties" ma:root="true" ma:fieldsID="6a295a3377b7169387d9176554edcf26" ns3:_="">
    <xsd:import namespace="ae9601a0-740a-4540-ae2c-08d70eaa164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9601a0-740a-4540-ae2c-08d70eaa16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6B9978-99B7-4D09-9B8E-318E6C9C3080}">
  <ds:schemaRefs>
    <ds:schemaRef ds:uri="ae9601a0-740a-4540-ae2c-08d70eaa16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4BC1CCE-7A37-48BC-887D-F3046D649D09}">
  <ds:schemaRefs>
    <ds:schemaRef ds:uri="http://schemas.microsoft.com/sharepoint/v3/contenttype/forms"/>
  </ds:schemaRefs>
</ds:datastoreItem>
</file>

<file path=customXml/itemProps3.xml><?xml version="1.0" encoding="utf-8"?>
<ds:datastoreItem xmlns:ds="http://schemas.openxmlformats.org/officeDocument/2006/customXml" ds:itemID="{39F95309-1F6C-4FF3-9709-3237001098B1}">
  <ds:schemaRefs>
    <ds:schemaRef ds:uri="ae9601a0-740a-4540-ae2c-08d70eaa16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34</Slides>
  <Notes>0</Notes>
  <HiddenSlides>0</HiddenSlides>
  <ScaleCrop>false</ScaleCrop>
  <HeadingPairs>
    <vt:vector size="4" baseType="variant">
      <vt:variant>
        <vt:lpstr>Theme</vt:lpstr>
      </vt:variant>
      <vt:variant>
        <vt:i4>2</vt:i4>
      </vt:variant>
      <vt:variant>
        <vt:lpstr>Slide Titles</vt:lpstr>
      </vt:variant>
      <vt:variant>
        <vt:i4>34</vt:i4>
      </vt:variant>
    </vt:vector>
  </HeadingPairs>
  <TitlesOfParts>
    <vt:vector size="36" baseType="lpstr">
      <vt:lpstr>Office Theme</vt:lpstr>
      <vt:lpstr>Office Theme</vt:lpstr>
      <vt:lpstr>23AID304- High Performance and Cloud Computing</vt:lpstr>
      <vt:lpstr>INTRODUCTION</vt:lpstr>
      <vt:lpstr>MOTIVATION</vt:lpstr>
      <vt:lpstr>LITERATURE SURVEY</vt:lpstr>
      <vt:lpstr>LITERATURE SURVEY</vt:lpstr>
      <vt:lpstr>DATA PARALLELISM</vt:lpstr>
      <vt:lpstr>MODEL PARALLELISM</vt:lpstr>
      <vt:lpstr>WHY ONLY DATA PARALLELISM HAS BEEN CHOSEN OVER MODEL PARALLELISM IN THIS STUDY?</vt:lpstr>
      <vt:lpstr>MASTER NODE DATA PREPARATION AND DISTRIBUTION</vt:lpstr>
      <vt:lpstr>RESEARCH WORKFLOW</vt:lpstr>
      <vt:lpstr>MODEL ARCHITECTURE</vt:lpstr>
      <vt:lpstr>DATA PARALLELISM – FORWARD &amp; BACKWARD PASS (LOCAL GRADIENT COMPUTATION)  </vt:lpstr>
      <vt:lpstr>PROPOSED METHODOLOGY</vt:lpstr>
      <vt:lpstr>PROPOSED METHODOLOGY</vt:lpstr>
      <vt:lpstr>DOCKER DEPLOYMENT</vt:lpstr>
      <vt:lpstr>CLOUD DEPLOYMENT (AWS-ECR)</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CLOUD DEPLOYMENT (AWS-ECS)</vt:lpstr>
      <vt:lpstr>PowerPoint Presentation</vt:lpstr>
      <vt:lpstr>RESULTS AND ANALYSIS</vt:lpstr>
      <vt:lpstr>RESULTS AND ANALYSIS</vt:lpstr>
      <vt:lpstr>RESULTS AND ANALYSIS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23AID302 - Big Data Analytics</dc:title>
  <dc:creator>B G Rajath Siddarth-[BL.EN.U4AID23006]</dc:creator>
  <cp:revision>6</cp:revision>
  <dcterms:created xsi:type="dcterms:W3CDTF">2025-09-16T09:21:47Z</dcterms:created>
  <dcterms:modified xsi:type="dcterms:W3CDTF">2025-11-14T03:22:07Z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0x010100A1D55DAB5EF2644A8A41D6D299B4B93C</vt:lpwstr>
  </property>
</Properties>
</file>